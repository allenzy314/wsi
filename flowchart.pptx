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</p:sldIdLst>
  <p:sldSz cx="43200638" cy="16200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AF8"/>
    <a:srgbClr val="C2F7FA"/>
    <a:srgbClr val="2E636A"/>
    <a:srgbClr val="FFFFFF"/>
    <a:srgbClr val="5C5D3B"/>
    <a:srgbClr val="866C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57" autoAdjust="0"/>
  </p:normalViewPr>
  <p:slideViewPr>
    <p:cSldViewPr showGuides="1">
      <p:cViewPr>
        <p:scale>
          <a:sx n="54" d="100"/>
          <a:sy n="54" d="100"/>
        </p:scale>
        <p:origin x="-529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0080" y="2651323"/>
            <a:ext cx="32400479" cy="5640152"/>
          </a:xfrm>
        </p:spPr>
        <p:txBody>
          <a:bodyPr anchor="b"/>
          <a:lstStyle>
            <a:lvl1pPr algn="ctr">
              <a:defRPr sz="1417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80" y="8508981"/>
            <a:ext cx="32400479" cy="3911355"/>
          </a:xfrm>
        </p:spPr>
        <p:txBody>
          <a:bodyPr/>
          <a:lstStyle>
            <a:lvl1pPr marL="0" indent="0" algn="ctr">
              <a:buNone/>
              <a:defRPr sz="5670"/>
            </a:lvl1pPr>
            <a:lvl2pPr marL="1080044" indent="0" algn="ctr">
              <a:buNone/>
              <a:defRPr sz="4725"/>
            </a:lvl2pPr>
            <a:lvl3pPr marL="2160087" indent="0" algn="ctr">
              <a:buNone/>
              <a:defRPr sz="4252"/>
            </a:lvl3pPr>
            <a:lvl4pPr marL="3240131" indent="0" algn="ctr">
              <a:buNone/>
              <a:defRPr sz="3780"/>
            </a:lvl4pPr>
            <a:lvl5pPr marL="4320174" indent="0" algn="ctr">
              <a:buNone/>
              <a:defRPr sz="3780"/>
            </a:lvl5pPr>
            <a:lvl6pPr marL="5400218" indent="0" algn="ctr">
              <a:buNone/>
              <a:defRPr sz="3780"/>
            </a:lvl6pPr>
            <a:lvl7pPr marL="6480261" indent="0" algn="ctr">
              <a:buNone/>
              <a:defRPr sz="3780"/>
            </a:lvl7pPr>
            <a:lvl8pPr marL="7560305" indent="0" algn="ctr">
              <a:buNone/>
              <a:defRPr sz="3780"/>
            </a:lvl8pPr>
            <a:lvl9pPr marL="8640348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78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44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544" y="4038862"/>
            <a:ext cx="37260550" cy="6738931"/>
          </a:xfrm>
        </p:spPr>
        <p:txBody>
          <a:bodyPr anchor="b"/>
          <a:lstStyle>
            <a:lvl1pPr>
              <a:defRPr sz="1417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544" y="10841545"/>
            <a:ext cx="37260550" cy="3543845"/>
          </a:xfrm>
        </p:spPr>
        <p:txBody>
          <a:bodyPr/>
          <a:lstStyle>
            <a:lvl1pPr marL="0" indent="0">
              <a:buNone/>
              <a:defRPr sz="5670">
                <a:solidFill>
                  <a:schemeClr val="tx1">
                    <a:tint val="82000"/>
                  </a:schemeClr>
                </a:solidFill>
              </a:defRPr>
            </a:lvl1pPr>
            <a:lvl2pPr marL="1080044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2pPr>
            <a:lvl3pPr marL="2160087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4013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2017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400218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8026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6030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40348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960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0044" y="4312617"/>
            <a:ext cx="18360271" cy="102790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3" y="4312617"/>
            <a:ext cx="18360271" cy="102790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57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862524"/>
            <a:ext cx="37260550" cy="31313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673" y="3971359"/>
            <a:ext cx="18275893" cy="1946301"/>
          </a:xfrm>
        </p:spPr>
        <p:txBody>
          <a:bodyPr anchor="b"/>
          <a:lstStyle>
            <a:lvl1pPr marL="0" indent="0">
              <a:buNone/>
              <a:defRPr sz="5670" b="1"/>
            </a:lvl1pPr>
            <a:lvl2pPr marL="1080044" indent="0">
              <a:buNone/>
              <a:defRPr sz="4725" b="1"/>
            </a:lvl2pPr>
            <a:lvl3pPr marL="2160087" indent="0">
              <a:buNone/>
              <a:defRPr sz="4252" b="1"/>
            </a:lvl3pPr>
            <a:lvl4pPr marL="3240131" indent="0">
              <a:buNone/>
              <a:defRPr sz="3780" b="1"/>
            </a:lvl4pPr>
            <a:lvl5pPr marL="4320174" indent="0">
              <a:buNone/>
              <a:defRPr sz="3780" b="1"/>
            </a:lvl5pPr>
            <a:lvl6pPr marL="5400218" indent="0">
              <a:buNone/>
              <a:defRPr sz="3780" b="1"/>
            </a:lvl6pPr>
            <a:lvl7pPr marL="6480261" indent="0">
              <a:buNone/>
              <a:defRPr sz="3780" b="1"/>
            </a:lvl7pPr>
            <a:lvl8pPr marL="7560305" indent="0">
              <a:buNone/>
              <a:defRPr sz="3780" b="1"/>
            </a:lvl8pPr>
            <a:lvl9pPr marL="8640348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673" y="5917660"/>
            <a:ext cx="18275893" cy="8703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70323" y="3971359"/>
            <a:ext cx="18365898" cy="1946301"/>
          </a:xfrm>
        </p:spPr>
        <p:txBody>
          <a:bodyPr anchor="b"/>
          <a:lstStyle>
            <a:lvl1pPr marL="0" indent="0">
              <a:buNone/>
              <a:defRPr sz="5670" b="1"/>
            </a:lvl1pPr>
            <a:lvl2pPr marL="1080044" indent="0">
              <a:buNone/>
              <a:defRPr sz="4725" b="1"/>
            </a:lvl2pPr>
            <a:lvl3pPr marL="2160087" indent="0">
              <a:buNone/>
              <a:defRPr sz="4252" b="1"/>
            </a:lvl3pPr>
            <a:lvl4pPr marL="3240131" indent="0">
              <a:buNone/>
              <a:defRPr sz="3780" b="1"/>
            </a:lvl4pPr>
            <a:lvl5pPr marL="4320174" indent="0">
              <a:buNone/>
              <a:defRPr sz="3780" b="1"/>
            </a:lvl5pPr>
            <a:lvl6pPr marL="5400218" indent="0">
              <a:buNone/>
              <a:defRPr sz="3780" b="1"/>
            </a:lvl6pPr>
            <a:lvl7pPr marL="6480261" indent="0">
              <a:buNone/>
              <a:defRPr sz="3780" b="1"/>
            </a:lvl7pPr>
            <a:lvl8pPr marL="7560305" indent="0">
              <a:buNone/>
              <a:defRPr sz="3780" b="1"/>
            </a:lvl8pPr>
            <a:lvl9pPr marL="8640348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3" y="5917660"/>
            <a:ext cx="18365898" cy="8703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68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27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866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2" y="1080029"/>
            <a:ext cx="13933329" cy="3780102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898" y="2332564"/>
            <a:ext cx="21870323" cy="11512811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70"/>
            </a:lvl3pPr>
            <a:lvl4pPr>
              <a:defRPr sz="4725"/>
            </a:lvl4pPr>
            <a:lvl5pPr>
              <a:defRPr sz="4725"/>
            </a:lvl5pPr>
            <a:lvl6pPr>
              <a:defRPr sz="4725"/>
            </a:lvl6pPr>
            <a:lvl7pPr>
              <a:defRPr sz="4725"/>
            </a:lvl7pPr>
            <a:lvl8pPr>
              <a:defRPr sz="4725"/>
            </a:lvl8pPr>
            <a:lvl9pPr>
              <a:defRPr sz="47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2" y="4860131"/>
            <a:ext cx="13933329" cy="9003995"/>
          </a:xfrm>
        </p:spPr>
        <p:txBody>
          <a:bodyPr/>
          <a:lstStyle>
            <a:lvl1pPr marL="0" indent="0">
              <a:buNone/>
              <a:defRPr sz="3780"/>
            </a:lvl1pPr>
            <a:lvl2pPr marL="1080044" indent="0">
              <a:buNone/>
              <a:defRPr sz="3307"/>
            </a:lvl2pPr>
            <a:lvl3pPr marL="2160087" indent="0">
              <a:buNone/>
              <a:defRPr sz="2835"/>
            </a:lvl3pPr>
            <a:lvl4pPr marL="3240131" indent="0">
              <a:buNone/>
              <a:defRPr sz="2362"/>
            </a:lvl4pPr>
            <a:lvl5pPr marL="4320174" indent="0">
              <a:buNone/>
              <a:defRPr sz="2362"/>
            </a:lvl5pPr>
            <a:lvl6pPr marL="5400218" indent="0">
              <a:buNone/>
              <a:defRPr sz="2362"/>
            </a:lvl6pPr>
            <a:lvl7pPr marL="6480261" indent="0">
              <a:buNone/>
              <a:defRPr sz="2362"/>
            </a:lvl7pPr>
            <a:lvl8pPr marL="7560305" indent="0">
              <a:buNone/>
              <a:defRPr sz="2362"/>
            </a:lvl8pPr>
            <a:lvl9pPr marL="8640348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54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2" y="1080029"/>
            <a:ext cx="13933329" cy="3780102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5898" y="2332564"/>
            <a:ext cx="21870323" cy="11512811"/>
          </a:xfrm>
        </p:spPr>
        <p:txBody>
          <a:bodyPr anchor="t"/>
          <a:lstStyle>
            <a:lvl1pPr marL="0" indent="0">
              <a:buNone/>
              <a:defRPr sz="7559"/>
            </a:lvl1pPr>
            <a:lvl2pPr marL="1080044" indent="0">
              <a:buNone/>
              <a:defRPr sz="6614"/>
            </a:lvl2pPr>
            <a:lvl3pPr marL="2160087" indent="0">
              <a:buNone/>
              <a:defRPr sz="5670"/>
            </a:lvl3pPr>
            <a:lvl4pPr marL="3240131" indent="0">
              <a:buNone/>
              <a:defRPr sz="4725"/>
            </a:lvl4pPr>
            <a:lvl5pPr marL="4320174" indent="0">
              <a:buNone/>
              <a:defRPr sz="4725"/>
            </a:lvl5pPr>
            <a:lvl6pPr marL="5400218" indent="0">
              <a:buNone/>
              <a:defRPr sz="4725"/>
            </a:lvl6pPr>
            <a:lvl7pPr marL="6480261" indent="0">
              <a:buNone/>
              <a:defRPr sz="4725"/>
            </a:lvl7pPr>
            <a:lvl8pPr marL="7560305" indent="0">
              <a:buNone/>
              <a:defRPr sz="4725"/>
            </a:lvl8pPr>
            <a:lvl9pPr marL="8640348" indent="0">
              <a:buNone/>
              <a:defRPr sz="472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2" y="4860131"/>
            <a:ext cx="13933329" cy="9003995"/>
          </a:xfrm>
        </p:spPr>
        <p:txBody>
          <a:bodyPr/>
          <a:lstStyle>
            <a:lvl1pPr marL="0" indent="0">
              <a:buNone/>
              <a:defRPr sz="3780"/>
            </a:lvl1pPr>
            <a:lvl2pPr marL="1080044" indent="0">
              <a:buNone/>
              <a:defRPr sz="3307"/>
            </a:lvl2pPr>
            <a:lvl3pPr marL="2160087" indent="0">
              <a:buNone/>
              <a:defRPr sz="2835"/>
            </a:lvl3pPr>
            <a:lvl4pPr marL="3240131" indent="0">
              <a:buNone/>
              <a:defRPr sz="2362"/>
            </a:lvl4pPr>
            <a:lvl5pPr marL="4320174" indent="0">
              <a:buNone/>
              <a:defRPr sz="2362"/>
            </a:lvl5pPr>
            <a:lvl6pPr marL="5400218" indent="0">
              <a:buNone/>
              <a:defRPr sz="2362"/>
            </a:lvl6pPr>
            <a:lvl7pPr marL="6480261" indent="0">
              <a:buNone/>
              <a:defRPr sz="2362"/>
            </a:lvl7pPr>
            <a:lvl8pPr marL="7560305" indent="0">
              <a:buNone/>
              <a:defRPr sz="2362"/>
            </a:lvl8pPr>
            <a:lvl9pPr marL="8640348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68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41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5456" y="862524"/>
            <a:ext cx="9315138" cy="137291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044" y="862524"/>
            <a:ext cx="27405405" cy="137291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33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4" y="862524"/>
            <a:ext cx="37260550" cy="3131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4" y="4312617"/>
            <a:ext cx="37260550" cy="10279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44" y="15015407"/>
            <a:ext cx="9720144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387DD-5FAF-4A95-8F7C-D3D68BE87B35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2" y="15015407"/>
            <a:ext cx="14580215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0" y="15015407"/>
            <a:ext cx="9720144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0C408-FD53-4FC1-BD1F-8DF1E89491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160087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0022" indent="-540022" algn="l" defTabSz="2160087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20065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2pPr>
      <a:lvl3pPr marL="2700109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780152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60196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40240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20283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100327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80370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80044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60087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40131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20174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400218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80261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60305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40348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组合 322">
            <a:extLst>
              <a:ext uri="{FF2B5EF4-FFF2-40B4-BE49-F238E27FC236}">
                <a16:creationId xmlns:a16="http://schemas.microsoft.com/office/drawing/2014/main" id="{AA64DF97-87E0-889F-3A56-995ED3509ADD}"/>
              </a:ext>
            </a:extLst>
          </p:cNvPr>
          <p:cNvGrpSpPr/>
          <p:nvPr/>
        </p:nvGrpSpPr>
        <p:grpSpPr>
          <a:xfrm>
            <a:off x="1726111" y="1043435"/>
            <a:ext cx="34998402" cy="13520474"/>
            <a:chOff x="6649386" y="1187496"/>
            <a:chExt cx="34998402" cy="13520474"/>
          </a:xfrm>
        </p:grpSpPr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34117FB2-673E-072E-BB40-2527B56D2FD4}"/>
                </a:ext>
              </a:extLst>
            </p:cNvPr>
            <p:cNvSpPr txBox="1"/>
            <p:nvPr/>
          </p:nvSpPr>
          <p:spPr>
            <a:xfrm>
              <a:off x="33595927" y="6168727"/>
              <a:ext cx="3354704" cy="353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94" b="1" dirty="0"/>
                <a:t>Spatial weights</a:t>
              </a:r>
              <a:endParaRPr lang="zh-CN" altLang="en-US" sz="1694" b="1" dirty="0"/>
            </a:p>
          </p:txBody>
        </p: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779EA1C2-2CFF-9473-37BE-338271DE015F}"/>
                </a:ext>
              </a:extLst>
            </p:cNvPr>
            <p:cNvGrpSpPr/>
            <p:nvPr/>
          </p:nvGrpSpPr>
          <p:grpSpPr>
            <a:xfrm>
              <a:off x="6649386" y="1187496"/>
              <a:ext cx="28776385" cy="13520474"/>
              <a:chOff x="2009672" y="883197"/>
              <a:chExt cx="20383405" cy="6547386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2BCB564B-F80D-FAC9-8ADB-57AD1ACF8F85}"/>
                  </a:ext>
                </a:extLst>
              </p:cNvPr>
              <p:cNvGrpSpPr/>
              <p:nvPr/>
            </p:nvGrpSpPr>
            <p:grpSpPr>
              <a:xfrm>
                <a:off x="4243557" y="1566333"/>
                <a:ext cx="6570698" cy="5201516"/>
                <a:chOff x="3725604" y="1529882"/>
                <a:chExt cx="6570698" cy="5201516"/>
              </a:xfrm>
            </p:grpSpPr>
            <p:grpSp>
              <p:nvGrpSpPr>
                <p:cNvPr id="41" name="组合 40">
                  <a:extLst>
                    <a:ext uri="{FF2B5EF4-FFF2-40B4-BE49-F238E27FC236}">
                      <a16:creationId xmlns:a16="http://schemas.microsoft.com/office/drawing/2014/main" id="{72E094F3-E051-D07B-0F46-DA703FB7EF8F}"/>
                    </a:ext>
                  </a:extLst>
                </p:cNvPr>
                <p:cNvGrpSpPr/>
                <p:nvPr/>
              </p:nvGrpSpPr>
              <p:grpSpPr>
                <a:xfrm>
                  <a:off x="4424327" y="1936679"/>
                  <a:ext cx="790668" cy="806163"/>
                  <a:chOff x="1582148" y="764704"/>
                  <a:chExt cx="790668" cy="806163"/>
                </a:xfrm>
              </p:grpSpPr>
              <p:pic>
                <p:nvPicPr>
                  <p:cNvPr id="31" name="图片 30">
                    <a:extLst>
                      <a:ext uri="{FF2B5EF4-FFF2-40B4-BE49-F238E27FC236}">
                        <a16:creationId xmlns:a16="http://schemas.microsoft.com/office/drawing/2014/main" id="{FE1916D8-745C-EB40-601E-CEEFBC91DA13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82148" y="764704"/>
                    <a:ext cx="468000" cy="468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pic>
                <p:nvPicPr>
                  <p:cNvPr id="33" name="图片 32">
                    <a:extLst>
                      <a:ext uri="{FF2B5EF4-FFF2-40B4-BE49-F238E27FC236}">
                        <a16:creationId xmlns:a16="http://schemas.microsoft.com/office/drawing/2014/main" id="{058811BA-7FAF-E56C-3645-B9B402923BC1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49120" y="828929"/>
                    <a:ext cx="468000" cy="468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pic>
                <p:nvPicPr>
                  <p:cNvPr id="35" name="图片 34">
                    <a:extLst>
                      <a:ext uri="{FF2B5EF4-FFF2-40B4-BE49-F238E27FC236}">
                        <a16:creationId xmlns:a16="http://schemas.microsoft.com/office/drawing/2014/main" id="{E45A2AD4-7E22-420D-6060-0DCBEE3F1FCA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25336" y="908804"/>
                    <a:ext cx="468000" cy="468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pic>
                <p:nvPicPr>
                  <p:cNvPr id="37" name="图片 36">
                    <a:extLst>
                      <a:ext uri="{FF2B5EF4-FFF2-40B4-BE49-F238E27FC236}">
                        <a16:creationId xmlns:a16="http://schemas.microsoft.com/office/drawing/2014/main" id="{F4403DAC-1977-8C82-B694-9F31ADC97854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801552" y="998704"/>
                    <a:ext cx="468000" cy="468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pic>
                <p:nvPicPr>
                  <p:cNvPr id="39" name="图片 38">
                    <a:extLst>
                      <a:ext uri="{FF2B5EF4-FFF2-40B4-BE49-F238E27FC236}">
                        <a16:creationId xmlns:a16="http://schemas.microsoft.com/office/drawing/2014/main" id="{600B93B1-014B-92D3-80A7-F6F34454CB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883120" y="1102867"/>
                    <a:ext cx="489696" cy="468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</p:grpSp>
            <p:grpSp>
              <p:nvGrpSpPr>
                <p:cNvPr id="52" name="组合 51">
                  <a:extLst>
                    <a:ext uri="{FF2B5EF4-FFF2-40B4-BE49-F238E27FC236}">
                      <a16:creationId xmlns:a16="http://schemas.microsoft.com/office/drawing/2014/main" id="{50193899-B235-7B35-52F5-3F1D9B6AB40C}"/>
                    </a:ext>
                  </a:extLst>
                </p:cNvPr>
                <p:cNvGrpSpPr/>
                <p:nvPr/>
              </p:nvGrpSpPr>
              <p:grpSpPr>
                <a:xfrm>
                  <a:off x="4375385" y="5459773"/>
                  <a:ext cx="852261" cy="885878"/>
                  <a:chOff x="3995523" y="2702891"/>
                  <a:chExt cx="852261" cy="885878"/>
                </a:xfrm>
              </p:grpSpPr>
              <p:pic>
                <p:nvPicPr>
                  <p:cNvPr id="43" name="图片 42">
                    <a:extLst>
                      <a:ext uri="{FF2B5EF4-FFF2-40B4-BE49-F238E27FC236}">
                        <a16:creationId xmlns:a16="http://schemas.microsoft.com/office/drawing/2014/main" id="{C9635E9B-0804-CECF-CC1B-3D02823086BC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995523" y="2702891"/>
                    <a:ext cx="468000" cy="468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pic>
                <p:nvPicPr>
                  <p:cNvPr id="45" name="图片 44">
                    <a:extLst>
                      <a:ext uri="{FF2B5EF4-FFF2-40B4-BE49-F238E27FC236}">
                        <a16:creationId xmlns:a16="http://schemas.microsoft.com/office/drawing/2014/main" id="{7F4EE7C2-3C43-1EB2-059F-6CFB106C1A6E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101412" y="2803635"/>
                    <a:ext cx="468000" cy="468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pic>
                <p:nvPicPr>
                  <p:cNvPr id="47" name="图片 46">
                    <a:extLst>
                      <a:ext uri="{FF2B5EF4-FFF2-40B4-BE49-F238E27FC236}">
                        <a16:creationId xmlns:a16="http://schemas.microsoft.com/office/drawing/2014/main" id="{6E2A532B-561E-B16C-34E5-4EC493125301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190155" y="2903301"/>
                    <a:ext cx="468000" cy="468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pic>
                <p:nvPicPr>
                  <p:cNvPr id="49" name="图片 48">
                    <a:extLst>
                      <a:ext uri="{FF2B5EF4-FFF2-40B4-BE49-F238E27FC236}">
                        <a16:creationId xmlns:a16="http://schemas.microsoft.com/office/drawing/2014/main" id="{9AC0E77F-7073-EC6E-FB4B-E8374C8C6827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288782" y="3012035"/>
                    <a:ext cx="468000" cy="468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  <p:pic>
                <p:nvPicPr>
                  <p:cNvPr id="51" name="图片 50">
                    <a:extLst>
                      <a:ext uri="{FF2B5EF4-FFF2-40B4-BE49-F238E27FC236}">
                        <a16:creationId xmlns:a16="http://schemas.microsoft.com/office/drawing/2014/main" id="{F47CA538-8882-EDE4-7567-6CD1B093503B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79784" y="3120769"/>
                    <a:ext cx="468000" cy="468000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</p:pic>
            </p:grp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3BE7387-4443-3B00-7AA8-9008200B0FBA}"/>
                    </a:ext>
                  </a:extLst>
                </p:cNvPr>
                <p:cNvSpPr txBox="1"/>
                <p:nvPr/>
              </p:nvSpPr>
              <p:spPr>
                <a:xfrm>
                  <a:off x="4208321" y="1529882"/>
                  <a:ext cx="1260223" cy="1919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976" b="1" dirty="0"/>
                    <a:t>5x patches</a:t>
                  </a:r>
                  <a:endParaRPr lang="zh-CN" altLang="en-US" sz="1976" b="1" dirty="0"/>
                </a:p>
              </p:txBody>
            </p:sp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04257C0-D868-6EDA-E89F-EA13DAECE8F8}"/>
                    </a:ext>
                  </a:extLst>
                </p:cNvPr>
                <p:cNvSpPr txBox="1"/>
                <p:nvPr/>
              </p:nvSpPr>
              <p:spPr>
                <a:xfrm>
                  <a:off x="4139209" y="6493780"/>
                  <a:ext cx="1152129" cy="1919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976" b="1" dirty="0"/>
                    <a:t>10x</a:t>
                  </a:r>
                  <a:r>
                    <a:rPr lang="zh-CN" altLang="en-US" sz="1976" b="1" dirty="0"/>
                    <a:t> </a:t>
                  </a:r>
                  <a:r>
                    <a:rPr lang="en-US" altLang="zh-CN" sz="1976" b="1" dirty="0"/>
                    <a:t>patches</a:t>
                  </a:r>
                  <a:endParaRPr lang="zh-CN" altLang="en-US" sz="1976" b="1" dirty="0"/>
                </a:p>
              </p:txBody>
            </p:sp>
            <p:sp>
              <p:nvSpPr>
                <p:cNvPr id="57" name="矩形: 圆角 56">
                  <a:extLst>
                    <a:ext uri="{FF2B5EF4-FFF2-40B4-BE49-F238E27FC236}">
                      <a16:creationId xmlns:a16="http://schemas.microsoft.com/office/drawing/2014/main" id="{025C3FDE-E2F0-5ED0-2870-7C702E29DF78}"/>
                    </a:ext>
                  </a:extLst>
                </p:cNvPr>
                <p:cNvSpPr/>
                <p:nvPr/>
              </p:nvSpPr>
              <p:spPr>
                <a:xfrm>
                  <a:off x="3743748" y="2995750"/>
                  <a:ext cx="2304255" cy="902705"/>
                </a:xfrm>
                <a:prstGeom prst="roundRect">
                  <a:avLst/>
                </a:prstGeom>
                <a:solidFill>
                  <a:schemeClr val="bg2"/>
                </a:solidFill>
                <a:ln cmpd="sng">
                  <a:solidFill>
                    <a:schemeClr val="accent1">
                      <a:shade val="15000"/>
                    </a:schemeClr>
                  </a:solidFill>
                  <a:prstDash val="sysDash"/>
                  <a:extLst>
                    <a:ext uri="{C807C97D-BFC1-408E-A445-0C87EB9F89A2}">
                      <ask:lineSketchStyleProps xmlns:ask="http://schemas.microsoft.com/office/drawing/2018/sketchyshapes" sd="260988905">
                        <a:custGeom>
                          <a:avLst/>
                          <a:gdLst>
                            <a:gd name="csX0" fmla="*/ 0 w 1944216"/>
                            <a:gd name="csY0" fmla="*/ 118612 h 711656"/>
                            <a:gd name="csX1" fmla="*/ 118612 w 1944216"/>
                            <a:gd name="csY1" fmla="*/ 0 h 711656"/>
                            <a:gd name="csX2" fmla="*/ 653469 w 1944216"/>
                            <a:gd name="csY2" fmla="*/ 0 h 711656"/>
                            <a:gd name="csX3" fmla="*/ 1222467 w 1944216"/>
                            <a:gd name="csY3" fmla="*/ 0 h 711656"/>
                            <a:gd name="csX4" fmla="*/ 1825604 w 1944216"/>
                            <a:gd name="csY4" fmla="*/ 0 h 711656"/>
                            <a:gd name="csX5" fmla="*/ 1944216 w 1944216"/>
                            <a:gd name="csY5" fmla="*/ 118612 h 711656"/>
                            <a:gd name="csX6" fmla="*/ 1944216 w 1944216"/>
                            <a:gd name="csY6" fmla="*/ 593044 h 711656"/>
                            <a:gd name="csX7" fmla="*/ 1825604 w 1944216"/>
                            <a:gd name="csY7" fmla="*/ 711656 h 711656"/>
                            <a:gd name="csX8" fmla="*/ 1239537 w 1944216"/>
                            <a:gd name="csY8" fmla="*/ 711656 h 711656"/>
                            <a:gd name="csX9" fmla="*/ 653469 w 1944216"/>
                            <a:gd name="csY9" fmla="*/ 711656 h 711656"/>
                            <a:gd name="csX10" fmla="*/ 118612 w 1944216"/>
                            <a:gd name="csY10" fmla="*/ 711656 h 711656"/>
                            <a:gd name="csX11" fmla="*/ 0 w 1944216"/>
                            <a:gd name="csY11" fmla="*/ 593044 h 711656"/>
                            <a:gd name="csX12" fmla="*/ 0 w 1944216"/>
                            <a:gd name="csY12" fmla="*/ 118612 h 711656"/>
                          </a:gdLst>
                          <a:ahLst/>
                          <a:cxnLst>
                            <a:cxn ang="0">
                              <a:pos x="csX0" y="csY0"/>
                            </a:cxn>
                            <a:cxn ang="0">
                              <a:pos x="csX1" y="csY1"/>
                            </a:cxn>
                            <a:cxn ang="0">
                              <a:pos x="csX2" y="csY2"/>
                            </a:cxn>
                            <a:cxn ang="0">
                              <a:pos x="csX3" y="csY3"/>
                            </a:cxn>
                            <a:cxn ang="0">
                              <a:pos x="csX4" y="csY4"/>
                            </a:cxn>
                            <a:cxn ang="0">
                              <a:pos x="csX5" y="csY5"/>
                            </a:cxn>
                            <a:cxn ang="0">
                              <a:pos x="csX6" y="csY6"/>
                            </a:cxn>
                            <a:cxn ang="0">
                              <a:pos x="csX7" y="csY7"/>
                            </a:cxn>
                            <a:cxn ang="0">
                              <a:pos x="csX8" y="csY8"/>
                            </a:cxn>
                            <a:cxn ang="0">
                              <a:pos x="csX9" y="csY9"/>
                            </a:cxn>
                            <a:cxn ang="0">
                              <a:pos x="csX10" y="csY10"/>
                            </a:cxn>
                            <a:cxn ang="0">
                              <a:pos x="csX11" y="csY11"/>
                            </a:cxn>
                            <a:cxn ang="0">
                              <a:pos x="csX12" y="csY12"/>
                            </a:cxn>
                          </a:cxnLst>
                          <a:rect l="l" t="t" r="r" b="b"/>
                          <a:pathLst>
                            <a:path w="1944216" h="711656" fill="none" extrusionOk="0">
                              <a:moveTo>
                                <a:pt x="0" y="118612"/>
                              </a:moveTo>
                              <a:cubicBezTo>
                                <a:pt x="6087" y="54676"/>
                                <a:pt x="62545" y="3950"/>
                                <a:pt x="118612" y="0"/>
                              </a:cubicBezTo>
                              <a:cubicBezTo>
                                <a:pt x="268653" y="-14658"/>
                                <a:pt x="506996" y="50947"/>
                                <a:pt x="653469" y="0"/>
                              </a:cubicBezTo>
                              <a:cubicBezTo>
                                <a:pt x="799942" y="-50947"/>
                                <a:pt x="1074718" y="50618"/>
                                <a:pt x="1222467" y="0"/>
                              </a:cubicBezTo>
                              <a:cubicBezTo>
                                <a:pt x="1370216" y="-50618"/>
                                <a:pt x="1680119" y="48093"/>
                                <a:pt x="1825604" y="0"/>
                              </a:cubicBezTo>
                              <a:cubicBezTo>
                                <a:pt x="1885062" y="-402"/>
                                <a:pt x="1944656" y="45882"/>
                                <a:pt x="1944216" y="118612"/>
                              </a:cubicBezTo>
                              <a:cubicBezTo>
                                <a:pt x="1987278" y="336729"/>
                                <a:pt x="1924309" y="417852"/>
                                <a:pt x="1944216" y="593044"/>
                              </a:cubicBezTo>
                              <a:cubicBezTo>
                                <a:pt x="1956549" y="659516"/>
                                <a:pt x="1885229" y="694753"/>
                                <a:pt x="1825604" y="711656"/>
                              </a:cubicBezTo>
                              <a:cubicBezTo>
                                <a:pt x="1574885" y="761373"/>
                                <a:pt x="1491698" y="705356"/>
                                <a:pt x="1239537" y="711656"/>
                              </a:cubicBezTo>
                              <a:cubicBezTo>
                                <a:pt x="987376" y="717956"/>
                                <a:pt x="884229" y="661306"/>
                                <a:pt x="653469" y="711656"/>
                              </a:cubicBezTo>
                              <a:cubicBezTo>
                                <a:pt x="422709" y="762006"/>
                                <a:pt x="227919" y="697885"/>
                                <a:pt x="118612" y="711656"/>
                              </a:cubicBezTo>
                              <a:cubicBezTo>
                                <a:pt x="52927" y="713090"/>
                                <a:pt x="-2991" y="665406"/>
                                <a:pt x="0" y="593044"/>
                              </a:cubicBezTo>
                              <a:cubicBezTo>
                                <a:pt x="-28241" y="440982"/>
                                <a:pt x="35418" y="354725"/>
                                <a:pt x="0" y="118612"/>
                              </a:cubicBezTo>
                              <a:close/>
                            </a:path>
                            <a:path w="1944216" h="711656" stroke="0" extrusionOk="0">
                              <a:moveTo>
                                <a:pt x="0" y="118612"/>
                              </a:moveTo>
                              <a:cubicBezTo>
                                <a:pt x="-1492" y="55235"/>
                                <a:pt x="57630" y="-12277"/>
                                <a:pt x="118612" y="0"/>
                              </a:cubicBezTo>
                              <a:cubicBezTo>
                                <a:pt x="401862" y="-21841"/>
                                <a:pt x="462886" y="62301"/>
                                <a:pt x="687609" y="0"/>
                              </a:cubicBezTo>
                              <a:cubicBezTo>
                                <a:pt x="912332" y="-62301"/>
                                <a:pt x="1105032" y="55550"/>
                                <a:pt x="1256607" y="0"/>
                              </a:cubicBezTo>
                              <a:cubicBezTo>
                                <a:pt x="1408182" y="-55550"/>
                                <a:pt x="1561477" y="14027"/>
                                <a:pt x="1825604" y="0"/>
                              </a:cubicBezTo>
                              <a:cubicBezTo>
                                <a:pt x="1887019" y="12032"/>
                                <a:pt x="1929900" y="53241"/>
                                <a:pt x="1944216" y="118612"/>
                              </a:cubicBezTo>
                              <a:cubicBezTo>
                                <a:pt x="1949057" y="249226"/>
                                <a:pt x="1925754" y="415576"/>
                                <a:pt x="1944216" y="593044"/>
                              </a:cubicBezTo>
                              <a:cubicBezTo>
                                <a:pt x="1946645" y="657721"/>
                                <a:pt x="1885810" y="720367"/>
                                <a:pt x="1825604" y="711656"/>
                              </a:cubicBezTo>
                              <a:cubicBezTo>
                                <a:pt x="1560899" y="739449"/>
                                <a:pt x="1479806" y="695022"/>
                                <a:pt x="1290747" y="711656"/>
                              </a:cubicBezTo>
                              <a:cubicBezTo>
                                <a:pt x="1101688" y="728290"/>
                                <a:pt x="985843" y="644358"/>
                                <a:pt x="704679" y="711656"/>
                              </a:cubicBezTo>
                              <a:cubicBezTo>
                                <a:pt x="423515" y="778954"/>
                                <a:pt x="315921" y="694360"/>
                                <a:pt x="118612" y="711656"/>
                              </a:cubicBezTo>
                              <a:cubicBezTo>
                                <a:pt x="66507" y="700536"/>
                                <a:pt x="13360" y="654901"/>
                                <a:pt x="0" y="593044"/>
                              </a:cubicBezTo>
                              <a:cubicBezTo>
                                <a:pt x="-47775" y="471344"/>
                                <a:pt x="40677" y="338658"/>
                                <a:pt x="0" y="118612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003">
                  <a:schemeClr val="l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94" dirty="0">
                      <a:ln>
                        <a:solidFill>
                          <a:schemeClr val="accent1">
                            <a:shade val="15000"/>
                          </a:schemeClr>
                        </a:solidFill>
                        <a:prstDash val="solid"/>
                      </a:ln>
                      <a:solidFill>
                        <a:schemeClr val="tx1"/>
                      </a:solidFill>
                    </a:rPr>
                    <a:t>Irregular solid mass, infiltrative margins, dense stroma...</a:t>
                  </a:r>
                </a:p>
                <a:p>
                  <a:pPr algn="ctr"/>
                  <a:r>
                    <a:rPr lang="en-US" altLang="zh-CN" sz="1694" b="1" dirty="0">
                      <a:ln>
                        <a:solidFill>
                          <a:schemeClr val="accent1">
                            <a:shade val="15000"/>
                          </a:schemeClr>
                        </a:solidFill>
                        <a:prstDash val="solid"/>
                      </a:ln>
                      <a:solidFill>
                        <a:schemeClr val="tx1"/>
                      </a:solidFill>
                    </a:rPr>
                    <a:t>(low-scale text </a:t>
                  </a:r>
                  <a:r>
                    <a:rPr lang="en-US" altLang="zh-CN" sz="1694" b="1" dirty="0" err="1">
                      <a:ln>
                        <a:solidFill>
                          <a:schemeClr val="accent1">
                            <a:shade val="15000"/>
                          </a:schemeClr>
                        </a:solidFill>
                        <a:prstDash val="solid"/>
                      </a:ln>
                      <a:solidFill>
                        <a:schemeClr val="tx1"/>
                      </a:solidFill>
                    </a:rPr>
                    <a:t>propmt</a:t>
                  </a:r>
                  <a:r>
                    <a:rPr lang="en-US" altLang="zh-CN" sz="1694" b="1" dirty="0">
                      <a:ln>
                        <a:solidFill>
                          <a:schemeClr val="accent1">
                            <a:shade val="15000"/>
                          </a:schemeClr>
                        </a:solidFill>
                        <a:prstDash val="solid"/>
                      </a:ln>
                      <a:solidFill>
                        <a:schemeClr val="tx1"/>
                      </a:solidFill>
                    </a:rPr>
                    <a:t>)</a:t>
                  </a:r>
                  <a:endParaRPr lang="zh-CN" altLang="en-US" sz="1694" b="1" dirty="0">
                    <a:ln>
                      <a:solidFill>
                        <a:schemeClr val="accent1">
                          <a:shade val="15000"/>
                        </a:schemeClr>
                      </a:solidFill>
                      <a:prstDash val="solid"/>
                    </a:ln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矩形: 圆角 57">
                  <a:extLst>
                    <a:ext uri="{FF2B5EF4-FFF2-40B4-BE49-F238E27FC236}">
                      <a16:creationId xmlns:a16="http://schemas.microsoft.com/office/drawing/2014/main" id="{303CEBD1-B0D6-F336-9D62-5F508D5B908F}"/>
                    </a:ext>
                  </a:extLst>
                </p:cNvPr>
                <p:cNvSpPr/>
                <p:nvPr/>
              </p:nvSpPr>
              <p:spPr>
                <a:xfrm>
                  <a:off x="3725604" y="4299570"/>
                  <a:ext cx="2304255" cy="795975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  <a:prstDash val="sysDash"/>
                  <a:extLst>
                    <a:ext uri="{C807C97D-BFC1-408E-A445-0C87EB9F89A2}">
                      <ask:lineSketchStyleProps xmlns:ask="http://schemas.microsoft.com/office/drawing/2018/sketchyshapes" sd="260988905">
                        <a:custGeom>
                          <a:avLst/>
                          <a:gdLst>
                            <a:gd name="csX0" fmla="*/ 0 w 1944216"/>
                            <a:gd name="csY0" fmla="*/ 105880 h 635268"/>
                            <a:gd name="csX1" fmla="*/ 105880 w 1944216"/>
                            <a:gd name="csY1" fmla="*/ 0 h 635268"/>
                            <a:gd name="csX2" fmla="*/ 648716 w 1944216"/>
                            <a:gd name="csY2" fmla="*/ 0 h 635268"/>
                            <a:gd name="csX3" fmla="*/ 1226202 w 1944216"/>
                            <a:gd name="csY3" fmla="*/ 0 h 635268"/>
                            <a:gd name="csX4" fmla="*/ 1838336 w 1944216"/>
                            <a:gd name="csY4" fmla="*/ 0 h 635268"/>
                            <a:gd name="csX5" fmla="*/ 1944216 w 1944216"/>
                            <a:gd name="csY5" fmla="*/ 105880 h 635268"/>
                            <a:gd name="csX6" fmla="*/ 1944216 w 1944216"/>
                            <a:gd name="csY6" fmla="*/ 529388 h 635268"/>
                            <a:gd name="csX7" fmla="*/ 1838336 w 1944216"/>
                            <a:gd name="csY7" fmla="*/ 635268 h 635268"/>
                            <a:gd name="csX8" fmla="*/ 1243526 w 1944216"/>
                            <a:gd name="csY8" fmla="*/ 635268 h 635268"/>
                            <a:gd name="csX9" fmla="*/ 648716 w 1944216"/>
                            <a:gd name="csY9" fmla="*/ 635268 h 635268"/>
                            <a:gd name="csX10" fmla="*/ 105880 w 1944216"/>
                            <a:gd name="csY10" fmla="*/ 635268 h 635268"/>
                            <a:gd name="csX11" fmla="*/ 0 w 1944216"/>
                            <a:gd name="csY11" fmla="*/ 529388 h 635268"/>
                            <a:gd name="csX12" fmla="*/ 0 w 1944216"/>
                            <a:gd name="csY12" fmla="*/ 105880 h 635268"/>
                          </a:gdLst>
                          <a:ahLst/>
                          <a:cxnLst>
                            <a:cxn ang="0">
                              <a:pos x="csX0" y="csY0"/>
                            </a:cxn>
                            <a:cxn ang="0">
                              <a:pos x="csX1" y="csY1"/>
                            </a:cxn>
                            <a:cxn ang="0">
                              <a:pos x="csX2" y="csY2"/>
                            </a:cxn>
                            <a:cxn ang="0">
                              <a:pos x="csX3" y="csY3"/>
                            </a:cxn>
                            <a:cxn ang="0">
                              <a:pos x="csX4" y="csY4"/>
                            </a:cxn>
                            <a:cxn ang="0">
                              <a:pos x="csX5" y="csY5"/>
                            </a:cxn>
                            <a:cxn ang="0">
                              <a:pos x="csX6" y="csY6"/>
                            </a:cxn>
                            <a:cxn ang="0">
                              <a:pos x="csX7" y="csY7"/>
                            </a:cxn>
                            <a:cxn ang="0">
                              <a:pos x="csX8" y="csY8"/>
                            </a:cxn>
                            <a:cxn ang="0">
                              <a:pos x="csX9" y="csY9"/>
                            </a:cxn>
                            <a:cxn ang="0">
                              <a:pos x="csX10" y="csY10"/>
                            </a:cxn>
                            <a:cxn ang="0">
                              <a:pos x="csX11" y="csY11"/>
                            </a:cxn>
                            <a:cxn ang="0">
                              <a:pos x="csX12" y="csY12"/>
                            </a:cxn>
                          </a:cxnLst>
                          <a:rect l="l" t="t" r="r" b="b"/>
                          <a:pathLst>
                            <a:path w="1944216" h="635268" fill="none" extrusionOk="0">
                              <a:moveTo>
                                <a:pt x="0" y="105880"/>
                              </a:moveTo>
                              <a:cubicBezTo>
                                <a:pt x="4053" y="48450"/>
                                <a:pt x="61813" y="6028"/>
                                <a:pt x="105880" y="0"/>
                              </a:cubicBezTo>
                              <a:cubicBezTo>
                                <a:pt x="215226" y="-31798"/>
                                <a:pt x="450527" y="27477"/>
                                <a:pt x="648716" y="0"/>
                              </a:cubicBezTo>
                              <a:cubicBezTo>
                                <a:pt x="846905" y="-27477"/>
                                <a:pt x="1009065" y="16313"/>
                                <a:pt x="1226202" y="0"/>
                              </a:cubicBezTo>
                              <a:cubicBezTo>
                                <a:pt x="1443339" y="-16313"/>
                                <a:pt x="1566804" y="38105"/>
                                <a:pt x="1838336" y="0"/>
                              </a:cubicBezTo>
                              <a:cubicBezTo>
                                <a:pt x="1892150" y="-310"/>
                                <a:pt x="1944358" y="45069"/>
                                <a:pt x="1944216" y="105880"/>
                              </a:cubicBezTo>
                              <a:cubicBezTo>
                                <a:pt x="1958985" y="258515"/>
                                <a:pt x="1925632" y="428078"/>
                                <a:pt x="1944216" y="529388"/>
                              </a:cubicBezTo>
                              <a:cubicBezTo>
                                <a:pt x="1953359" y="588579"/>
                                <a:pt x="1891444" y="619843"/>
                                <a:pt x="1838336" y="635268"/>
                              </a:cubicBezTo>
                              <a:cubicBezTo>
                                <a:pt x="1556930" y="638041"/>
                                <a:pt x="1532247" y="627265"/>
                                <a:pt x="1243526" y="635268"/>
                              </a:cubicBezTo>
                              <a:cubicBezTo>
                                <a:pt x="954805" y="643271"/>
                                <a:pt x="933240" y="614739"/>
                                <a:pt x="648716" y="635268"/>
                              </a:cubicBezTo>
                              <a:cubicBezTo>
                                <a:pt x="364192" y="655797"/>
                                <a:pt x="372139" y="602963"/>
                                <a:pt x="105880" y="635268"/>
                              </a:cubicBezTo>
                              <a:cubicBezTo>
                                <a:pt x="47167" y="637186"/>
                                <a:pt x="-5520" y="600514"/>
                                <a:pt x="0" y="529388"/>
                              </a:cubicBezTo>
                              <a:cubicBezTo>
                                <a:pt x="-35808" y="360745"/>
                                <a:pt x="31289" y="246687"/>
                                <a:pt x="0" y="105880"/>
                              </a:cubicBezTo>
                              <a:close/>
                            </a:path>
                            <a:path w="1944216" h="635268" stroke="0" extrusionOk="0">
                              <a:moveTo>
                                <a:pt x="0" y="105880"/>
                              </a:moveTo>
                              <a:cubicBezTo>
                                <a:pt x="-3487" y="52385"/>
                                <a:pt x="52879" y="-14850"/>
                                <a:pt x="105880" y="0"/>
                              </a:cubicBezTo>
                              <a:cubicBezTo>
                                <a:pt x="330991" y="-30343"/>
                                <a:pt x="429338" y="22014"/>
                                <a:pt x="683365" y="0"/>
                              </a:cubicBezTo>
                              <a:cubicBezTo>
                                <a:pt x="937393" y="-22014"/>
                                <a:pt x="1115163" y="32226"/>
                                <a:pt x="1260851" y="0"/>
                              </a:cubicBezTo>
                              <a:cubicBezTo>
                                <a:pt x="1406539" y="-32226"/>
                                <a:pt x="1622293" y="31430"/>
                                <a:pt x="1838336" y="0"/>
                              </a:cubicBezTo>
                              <a:cubicBezTo>
                                <a:pt x="1892962" y="11317"/>
                                <a:pt x="1929027" y="47549"/>
                                <a:pt x="1944216" y="105880"/>
                              </a:cubicBezTo>
                              <a:cubicBezTo>
                                <a:pt x="1986329" y="275577"/>
                                <a:pt x="1899518" y="381725"/>
                                <a:pt x="1944216" y="529388"/>
                              </a:cubicBezTo>
                              <a:cubicBezTo>
                                <a:pt x="1958031" y="583138"/>
                                <a:pt x="1893020" y="641497"/>
                                <a:pt x="1838336" y="635268"/>
                              </a:cubicBezTo>
                              <a:cubicBezTo>
                                <a:pt x="1674779" y="642595"/>
                                <a:pt x="1481898" y="582665"/>
                                <a:pt x="1295500" y="635268"/>
                              </a:cubicBezTo>
                              <a:cubicBezTo>
                                <a:pt x="1109102" y="687871"/>
                                <a:pt x="918949" y="585888"/>
                                <a:pt x="700690" y="635268"/>
                              </a:cubicBezTo>
                              <a:cubicBezTo>
                                <a:pt x="482431" y="684648"/>
                                <a:pt x="351124" y="616814"/>
                                <a:pt x="105880" y="635268"/>
                              </a:cubicBezTo>
                              <a:cubicBezTo>
                                <a:pt x="51514" y="631858"/>
                                <a:pt x="6511" y="586085"/>
                                <a:pt x="0" y="529388"/>
                              </a:cubicBezTo>
                              <a:cubicBezTo>
                                <a:pt x="-35298" y="343647"/>
                                <a:pt x="39430" y="308339"/>
                                <a:pt x="0" y="105880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003">
                  <a:schemeClr val="l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94" dirty="0">
                      <a:ln>
                        <a:solidFill>
                          <a:schemeClr val="accent1">
                            <a:shade val="15000"/>
                          </a:schemeClr>
                        </a:solidFill>
                      </a:ln>
                      <a:solidFill>
                        <a:schemeClr val="tx1"/>
                      </a:solidFill>
                    </a:rPr>
                    <a:t>Cohesive cell clusters, pleomorphic nuclei, mitotic...</a:t>
                  </a:r>
                </a:p>
                <a:p>
                  <a:pPr algn="ctr"/>
                  <a:r>
                    <a:rPr lang="en-US" altLang="zh-CN" sz="1694" b="1" dirty="0">
                      <a:ln>
                        <a:solidFill>
                          <a:schemeClr val="accent1">
                            <a:shade val="15000"/>
                          </a:schemeClr>
                        </a:solidFill>
                      </a:ln>
                      <a:solidFill>
                        <a:schemeClr val="tx1"/>
                      </a:solidFill>
                    </a:rPr>
                    <a:t>(high-scale text prompt)</a:t>
                  </a:r>
                </a:p>
                <a:p>
                  <a:pPr algn="ctr"/>
                  <a:endParaRPr lang="zh-CN" altLang="en-US" sz="1694" b="1" dirty="0">
                    <a:ln>
                      <a:solidFill>
                        <a:schemeClr val="accent1">
                          <a:shade val="15000"/>
                        </a:schemeClr>
                      </a:solidFill>
                    </a:ln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73" name="组合 72">
                  <a:extLst>
                    <a:ext uri="{FF2B5EF4-FFF2-40B4-BE49-F238E27FC236}">
                      <a16:creationId xmlns:a16="http://schemas.microsoft.com/office/drawing/2014/main" id="{7185073C-0D93-258D-26A6-C9D570AE08E6}"/>
                    </a:ext>
                  </a:extLst>
                </p:cNvPr>
                <p:cNvGrpSpPr/>
                <p:nvPr/>
              </p:nvGrpSpPr>
              <p:grpSpPr>
                <a:xfrm rot="16200000">
                  <a:off x="5963356" y="2069930"/>
                  <a:ext cx="1018098" cy="489696"/>
                  <a:chOff x="6096000" y="930134"/>
                  <a:chExt cx="1584176" cy="842682"/>
                </a:xfrm>
              </p:grpSpPr>
              <p:sp>
                <p:nvSpPr>
                  <p:cNvPr id="64" name="梯形 63">
                    <a:extLst>
                      <a:ext uri="{FF2B5EF4-FFF2-40B4-BE49-F238E27FC236}">
                        <a16:creationId xmlns:a16="http://schemas.microsoft.com/office/drawing/2014/main" id="{23A47C55-9B6B-DEB0-4548-54CE445DAE4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096000" y="930134"/>
                    <a:ext cx="1584176" cy="842682"/>
                  </a:xfrm>
                  <a:prstGeom prst="trapezoid">
                    <a:avLst/>
                  </a:prstGeom>
                  <a:pattFill prst="pct10">
                    <a:fgClr>
                      <a:schemeClr val="accent1"/>
                    </a:fgClr>
                    <a:bgClr>
                      <a:schemeClr val="bg1"/>
                    </a:bgClr>
                  </a:patt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0" name="文本框 69">
                        <a:extLst>
                          <a:ext uri="{FF2B5EF4-FFF2-40B4-BE49-F238E27FC236}">
                            <a16:creationId xmlns:a16="http://schemas.microsoft.com/office/drawing/2014/main" id="{7ADEE476-1B65-919F-7166-28429A6ED05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47167" y="1148004"/>
                        <a:ext cx="547412" cy="47684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  <m:t>(⋅)</m:t>
                              </m:r>
                            </m:oMath>
                          </m:oMathPara>
                        </a14:m>
                        <a:endParaRPr lang="en-US" altLang="zh-CN" sz="2542" dirty="0"/>
                      </a:p>
                    </p:txBody>
                  </p:sp>
                </mc:Choice>
                <mc:Fallback xmlns="">
                  <p:sp>
                    <p:nvSpPr>
                      <p:cNvPr id="70" name="文本框 69">
                        <a:extLst>
                          <a:ext uri="{FF2B5EF4-FFF2-40B4-BE49-F238E27FC236}">
                            <a16:creationId xmlns:a16="http://schemas.microsoft.com/office/drawing/2014/main" id="{7ADEE476-1B65-919F-7166-28429A6ED05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547167" y="1148004"/>
                        <a:ext cx="547412" cy="476841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l="-1563" t="-16807" r="-34375" b="-1008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72" name="组合 71">
                  <a:extLst>
                    <a:ext uri="{FF2B5EF4-FFF2-40B4-BE49-F238E27FC236}">
                      <a16:creationId xmlns:a16="http://schemas.microsoft.com/office/drawing/2014/main" id="{2D92C763-CF52-DE13-0D1E-5025D2E03F4D}"/>
                    </a:ext>
                  </a:extLst>
                </p:cNvPr>
                <p:cNvGrpSpPr/>
                <p:nvPr/>
              </p:nvGrpSpPr>
              <p:grpSpPr>
                <a:xfrm rot="16200000">
                  <a:off x="6409776" y="3098987"/>
                  <a:ext cx="1018099" cy="733528"/>
                  <a:chOff x="5886502" y="3728947"/>
                  <a:chExt cx="1584176" cy="1262269"/>
                </a:xfrm>
              </p:grpSpPr>
              <p:sp>
                <p:nvSpPr>
                  <p:cNvPr id="65" name="梯形 64">
                    <a:extLst>
                      <a:ext uri="{FF2B5EF4-FFF2-40B4-BE49-F238E27FC236}">
                        <a16:creationId xmlns:a16="http://schemas.microsoft.com/office/drawing/2014/main" id="{ADCDE646-B132-7ECB-376B-4D66E358AF1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886502" y="3728947"/>
                    <a:ext cx="1584176" cy="842682"/>
                  </a:xfrm>
                  <a:prstGeom prst="trapezoid">
                    <a:avLst/>
                  </a:prstGeom>
                  <a:pattFill prst="wdUpDiag">
                    <a:fgClr>
                      <a:srgbClr val="FADAF8"/>
                    </a:fgClr>
                    <a:bgClr>
                      <a:schemeClr val="bg1"/>
                    </a:bgClr>
                  </a:pattFill>
                  <a:ln w="19050">
                    <a:solidFill>
                      <a:schemeClr val="accent1">
                        <a:shade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1" name="文本框 70">
                        <a:extLst>
                          <a:ext uri="{FF2B5EF4-FFF2-40B4-BE49-F238E27FC236}">
                            <a16:creationId xmlns:a16="http://schemas.microsoft.com/office/drawing/2014/main" id="{77DA0D81-4329-A445-B13E-64F3393B6C2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297275" y="4037538"/>
                        <a:ext cx="694676" cy="95367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  <m:t>(⋅)</m:t>
                              </m:r>
                            </m:oMath>
                          </m:oMathPara>
                        </a14:m>
                        <a:endParaRPr lang="en-US" altLang="zh-CN" sz="2542" dirty="0"/>
                      </a:p>
                      <a:p>
                        <a:endParaRPr lang="zh-CN" altLang="en-US" sz="2542" dirty="0"/>
                      </a:p>
                    </p:txBody>
                  </p:sp>
                </mc:Choice>
                <mc:Fallback xmlns="">
                  <p:sp>
                    <p:nvSpPr>
                      <p:cNvPr id="71" name="文本框 70">
                        <a:extLst>
                          <a:ext uri="{FF2B5EF4-FFF2-40B4-BE49-F238E27FC236}">
                            <a16:creationId xmlns:a16="http://schemas.microsoft.com/office/drawing/2014/main" id="{77DA0D81-4329-A445-B13E-64F3393B6C2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297275" y="4037538"/>
                        <a:ext cx="694676" cy="953678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781" t="-5960" b="-132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75" name="直接箭头连接符 74">
                  <a:extLst>
                    <a:ext uri="{FF2B5EF4-FFF2-40B4-BE49-F238E27FC236}">
                      <a16:creationId xmlns:a16="http://schemas.microsoft.com/office/drawing/2014/main" id="{3A332738-2409-F161-EE79-8AFDAC3768E9}"/>
                    </a:ext>
                  </a:extLst>
                </p:cNvPr>
                <p:cNvCxnSpPr/>
                <p:nvPr/>
              </p:nvCxnSpPr>
              <p:spPr>
                <a:xfrm>
                  <a:off x="5323717" y="2314778"/>
                  <a:ext cx="79629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76" name="组合 75">
                  <a:extLst>
                    <a:ext uri="{FF2B5EF4-FFF2-40B4-BE49-F238E27FC236}">
                      <a16:creationId xmlns:a16="http://schemas.microsoft.com/office/drawing/2014/main" id="{F60FDE15-2D5B-30FD-1302-19C80F06E911}"/>
                    </a:ext>
                  </a:extLst>
                </p:cNvPr>
                <p:cNvGrpSpPr/>
                <p:nvPr/>
              </p:nvGrpSpPr>
              <p:grpSpPr>
                <a:xfrm rot="16200000">
                  <a:off x="5963356" y="5723974"/>
                  <a:ext cx="1018098" cy="489696"/>
                  <a:chOff x="6096000" y="930134"/>
                  <a:chExt cx="1584176" cy="842682"/>
                </a:xfrm>
              </p:grpSpPr>
              <p:sp>
                <p:nvSpPr>
                  <p:cNvPr id="77" name="梯形 76">
                    <a:extLst>
                      <a:ext uri="{FF2B5EF4-FFF2-40B4-BE49-F238E27FC236}">
                        <a16:creationId xmlns:a16="http://schemas.microsoft.com/office/drawing/2014/main" id="{8D37E1F8-CCD0-B178-5F50-3E6900075E6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096000" y="930134"/>
                    <a:ext cx="1584176" cy="842682"/>
                  </a:xfrm>
                  <a:prstGeom prst="trapezoid">
                    <a:avLst/>
                  </a:prstGeom>
                  <a:pattFill prst="pct10">
                    <a:fgClr>
                      <a:schemeClr val="accent1"/>
                    </a:fgClr>
                    <a:bgClr>
                      <a:schemeClr val="bg1"/>
                    </a:bgClr>
                  </a:patt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8" name="文本框 77">
                        <a:extLst>
                          <a:ext uri="{FF2B5EF4-FFF2-40B4-BE49-F238E27FC236}">
                            <a16:creationId xmlns:a16="http://schemas.microsoft.com/office/drawing/2014/main" id="{2836C074-2DCA-2F58-E064-1AD9DDA294F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98466" y="1148004"/>
                        <a:ext cx="547412" cy="47684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  <m:t>(⋅)</m:t>
                              </m:r>
                            </m:oMath>
                          </m:oMathPara>
                        </a14:m>
                        <a:endParaRPr lang="en-US" altLang="zh-CN" sz="2542" dirty="0"/>
                      </a:p>
                    </p:txBody>
                  </p:sp>
                </mc:Choice>
                <mc:Fallback xmlns="">
                  <p:sp>
                    <p:nvSpPr>
                      <p:cNvPr id="78" name="文本框 77">
                        <a:extLst>
                          <a:ext uri="{FF2B5EF4-FFF2-40B4-BE49-F238E27FC236}">
                            <a16:creationId xmlns:a16="http://schemas.microsoft.com/office/drawing/2014/main" id="{2836C074-2DCA-2F58-E064-1AD9DDA294F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598466" y="1148004"/>
                        <a:ext cx="547412" cy="476841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l="-1563" t="-16807" r="-34375" b="-1092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80" name="直接箭头连接符 79">
                  <a:extLst>
                    <a:ext uri="{FF2B5EF4-FFF2-40B4-BE49-F238E27FC236}">
                      <a16:creationId xmlns:a16="http://schemas.microsoft.com/office/drawing/2014/main" id="{0572E7E1-0396-0664-75C2-11A468B65914}"/>
                    </a:ext>
                  </a:extLst>
                </p:cNvPr>
                <p:cNvCxnSpPr/>
                <p:nvPr/>
              </p:nvCxnSpPr>
              <p:spPr>
                <a:xfrm>
                  <a:off x="5360449" y="5927773"/>
                  <a:ext cx="75956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1" name="矩形 80">
                  <a:extLst>
                    <a:ext uri="{FF2B5EF4-FFF2-40B4-BE49-F238E27FC236}">
                      <a16:creationId xmlns:a16="http://schemas.microsoft.com/office/drawing/2014/main" id="{74D8AF85-0F53-33ED-80D9-78D025A44790}"/>
                    </a:ext>
                  </a:extLst>
                </p:cNvPr>
                <p:cNvSpPr/>
                <p:nvPr/>
              </p:nvSpPr>
              <p:spPr>
                <a:xfrm>
                  <a:off x="5855348" y="4625556"/>
                  <a:ext cx="144016" cy="144000"/>
                </a:xfrm>
                <a:prstGeom prst="rect">
                  <a:avLst/>
                </a:prstGeom>
                <a:solidFill>
                  <a:srgbClr val="FADAF8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grpSp>
              <p:nvGrpSpPr>
                <p:cNvPr id="85" name="组合 84">
                  <a:extLst>
                    <a:ext uri="{FF2B5EF4-FFF2-40B4-BE49-F238E27FC236}">
                      <a16:creationId xmlns:a16="http://schemas.microsoft.com/office/drawing/2014/main" id="{BC13B840-F7F9-1AFF-6831-3055710CB2CD}"/>
                    </a:ext>
                  </a:extLst>
                </p:cNvPr>
                <p:cNvGrpSpPr/>
                <p:nvPr/>
              </p:nvGrpSpPr>
              <p:grpSpPr>
                <a:xfrm rot="16200000">
                  <a:off x="6405691" y="4321443"/>
                  <a:ext cx="1018099" cy="752233"/>
                  <a:chOff x="5886502" y="3728947"/>
                  <a:chExt cx="1584176" cy="1294460"/>
                </a:xfrm>
              </p:grpSpPr>
              <p:sp>
                <p:nvSpPr>
                  <p:cNvPr id="86" name="梯形 85">
                    <a:extLst>
                      <a:ext uri="{FF2B5EF4-FFF2-40B4-BE49-F238E27FC236}">
                        <a16:creationId xmlns:a16="http://schemas.microsoft.com/office/drawing/2014/main" id="{9D06E8A6-A27F-0E8C-01DD-F5426A18DBB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886502" y="3728947"/>
                    <a:ext cx="1584176" cy="842682"/>
                  </a:xfrm>
                  <a:prstGeom prst="trapezoid">
                    <a:avLst/>
                  </a:prstGeom>
                  <a:pattFill prst="wdUpDiag">
                    <a:fgClr>
                      <a:srgbClr val="FADAF8"/>
                    </a:fgClr>
                    <a:bgClr>
                      <a:schemeClr val="bg1"/>
                    </a:bgClr>
                  </a:pattFill>
                  <a:ln w="19050">
                    <a:solidFill>
                      <a:schemeClr val="accent1">
                        <a:shade val="1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7" name="文本框 86">
                        <a:extLst>
                          <a:ext uri="{FF2B5EF4-FFF2-40B4-BE49-F238E27FC236}">
                            <a16:creationId xmlns:a16="http://schemas.microsoft.com/office/drawing/2014/main" id="{A3147B58-F2A8-2AC5-98C4-D977B46868B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343426" y="4069729"/>
                        <a:ext cx="694676" cy="95367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542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  <m:t>(⋅)</m:t>
                              </m:r>
                            </m:oMath>
                          </m:oMathPara>
                        </a14:m>
                        <a:endParaRPr lang="en-US" altLang="zh-CN" sz="2542" dirty="0"/>
                      </a:p>
                      <a:p>
                        <a:endParaRPr lang="zh-CN" altLang="en-US" sz="2542" dirty="0"/>
                      </a:p>
                    </p:txBody>
                  </p:sp>
                </mc:Choice>
                <mc:Fallback xmlns="">
                  <p:sp>
                    <p:nvSpPr>
                      <p:cNvPr id="87" name="文本框 86">
                        <a:extLst>
                          <a:ext uri="{FF2B5EF4-FFF2-40B4-BE49-F238E27FC236}">
                            <a16:creationId xmlns:a16="http://schemas.microsoft.com/office/drawing/2014/main" id="{A3147B58-F2A8-2AC5-98C4-D977B46868B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343426" y="4069729"/>
                        <a:ext cx="694676" cy="953678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l="-781" t="-5263" b="-65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89" name="直接箭头连接符 88">
                  <a:extLst>
                    <a:ext uri="{FF2B5EF4-FFF2-40B4-BE49-F238E27FC236}">
                      <a16:creationId xmlns:a16="http://schemas.microsoft.com/office/drawing/2014/main" id="{3AFD1317-814A-1D55-AFDD-A26BC728D26A}"/>
                    </a:ext>
                  </a:extLst>
                </p:cNvPr>
                <p:cNvCxnSpPr>
                  <a:stCxn id="57" idx="3"/>
                  <a:endCxn id="65" idx="2"/>
                </p:cNvCxnSpPr>
                <p:nvPr/>
              </p:nvCxnSpPr>
              <p:spPr>
                <a:xfrm flipV="1">
                  <a:off x="6048003" y="3447102"/>
                  <a:ext cx="424403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箭头连接符 90">
                  <a:extLst>
                    <a:ext uri="{FF2B5EF4-FFF2-40B4-BE49-F238E27FC236}">
                      <a16:creationId xmlns:a16="http://schemas.microsoft.com/office/drawing/2014/main" id="{E10D59F0-F4D9-6172-5763-E26C45AAB9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43291" y="4687328"/>
                  <a:ext cx="42911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423E16AE-24FC-85B3-0480-AEB62F39F32B}"/>
                    </a:ext>
                  </a:extLst>
                </p:cNvPr>
                <p:cNvSpPr/>
                <p:nvPr/>
              </p:nvSpPr>
              <p:spPr>
                <a:xfrm>
                  <a:off x="5871805" y="3412867"/>
                  <a:ext cx="144016" cy="144000"/>
                </a:xfrm>
                <a:prstGeom prst="rect">
                  <a:avLst/>
                </a:prstGeom>
                <a:solidFill>
                  <a:srgbClr val="FADAF8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cxnSp>
              <p:nvCxnSpPr>
                <p:cNvPr id="99" name="直接箭头连接符 98">
                  <a:extLst>
                    <a:ext uri="{FF2B5EF4-FFF2-40B4-BE49-F238E27FC236}">
                      <a16:creationId xmlns:a16="http://schemas.microsoft.com/office/drawing/2014/main" id="{F386BB16-B66A-B953-D790-2006DD3FBB41}"/>
                    </a:ext>
                  </a:extLst>
                </p:cNvPr>
                <p:cNvCxnSpPr>
                  <a:stCxn id="64" idx="0"/>
                </p:cNvCxnSpPr>
                <p:nvPr/>
              </p:nvCxnSpPr>
              <p:spPr>
                <a:xfrm>
                  <a:off x="6717253" y="2314778"/>
                  <a:ext cx="98693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箭头连接符 100">
                  <a:extLst>
                    <a:ext uri="{FF2B5EF4-FFF2-40B4-BE49-F238E27FC236}">
                      <a16:creationId xmlns:a16="http://schemas.microsoft.com/office/drawing/2014/main" id="{DEB284BC-4580-09EB-377A-FB80D02D99EB}"/>
                    </a:ext>
                  </a:extLst>
                </p:cNvPr>
                <p:cNvCxnSpPr>
                  <a:stCxn id="77" idx="0"/>
                </p:cNvCxnSpPr>
                <p:nvPr/>
              </p:nvCxnSpPr>
              <p:spPr>
                <a:xfrm>
                  <a:off x="6717253" y="5968822"/>
                  <a:ext cx="91492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2" name="矩形 101">
                  <a:extLst>
                    <a:ext uri="{FF2B5EF4-FFF2-40B4-BE49-F238E27FC236}">
                      <a16:creationId xmlns:a16="http://schemas.microsoft.com/office/drawing/2014/main" id="{4EDF9304-98E0-0F0E-926A-7E1AA434B688}"/>
                    </a:ext>
                  </a:extLst>
                </p:cNvPr>
                <p:cNvSpPr/>
                <p:nvPr/>
              </p:nvSpPr>
              <p:spPr>
                <a:xfrm>
                  <a:off x="7668183" y="2080778"/>
                  <a:ext cx="2037587" cy="46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542" dirty="0">
                      <a:solidFill>
                        <a:schemeClr val="tx1"/>
                      </a:solidFill>
                    </a:rPr>
                    <a:t>………</a:t>
                  </a:r>
                  <a:endParaRPr lang="zh-CN" altLang="en-US" sz="2542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B85A1A19-6B90-6FFB-F760-53D093071798}"/>
                    </a:ext>
                  </a:extLst>
                </p:cNvPr>
                <p:cNvSpPr/>
                <p:nvPr/>
              </p:nvSpPr>
              <p:spPr>
                <a:xfrm>
                  <a:off x="7631521" y="5758403"/>
                  <a:ext cx="1987139" cy="46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542" dirty="0">
                      <a:solidFill>
                        <a:schemeClr val="tx1"/>
                      </a:solidFill>
                    </a:rPr>
                    <a:t>………</a:t>
                  </a:r>
                  <a:endParaRPr lang="zh-CN" altLang="en-US" sz="2542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71AA2033-249D-5084-08D5-8A1D28029837}"/>
                    </a:ext>
                  </a:extLst>
                </p:cNvPr>
                <p:cNvSpPr txBox="1"/>
                <p:nvPr/>
              </p:nvSpPr>
              <p:spPr>
                <a:xfrm>
                  <a:off x="7920038" y="2618590"/>
                  <a:ext cx="2376264" cy="1709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94" b="1" dirty="0"/>
                    <a:t>Low-scale patch features</a:t>
                  </a:r>
                  <a:endParaRPr lang="zh-CN" altLang="en-US" sz="1694" b="1" dirty="0"/>
                </a:p>
              </p:txBody>
            </p:sp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BC83AA98-C462-1450-5137-CA91348E1CFB}"/>
                    </a:ext>
                  </a:extLst>
                </p:cNvPr>
                <p:cNvSpPr txBox="1"/>
                <p:nvPr/>
              </p:nvSpPr>
              <p:spPr>
                <a:xfrm>
                  <a:off x="7852796" y="5466727"/>
                  <a:ext cx="2376264" cy="1709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94" b="1" dirty="0"/>
                    <a:t>High-scale patch features</a:t>
                  </a:r>
                  <a:endParaRPr lang="zh-CN" altLang="en-US" sz="1694" b="1" dirty="0"/>
                </a:p>
              </p:txBody>
            </p:sp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6C84A96C-67A3-979A-013A-542481409E84}"/>
                    </a:ext>
                  </a:extLst>
                </p:cNvPr>
                <p:cNvSpPr/>
                <p:nvPr/>
              </p:nvSpPr>
              <p:spPr>
                <a:xfrm>
                  <a:off x="7841495" y="2170678"/>
                  <a:ext cx="288032" cy="288000"/>
                </a:xfrm>
                <a:prstGeom prst="rect">
                  <a:avLst/>
                </a:prstGeom>
                <a:pattFill prst="pct10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1E1451D2-2FBF-9113-02DB-B6A3E062E4EF}"/>
                    </a:ext>
                  </a:extLst>
                </p:cNvPr>
                <p:cNvSpPr/>
                <p:nvPr/>
              </p:nvSpPr>
              <p:spPr>
                <a:xfrm>
                  <a:off x="7818675" y="5853361"/>
                  <a:ext cx="288032" cy="288000"/>
                </a:xfrm>
                <a:prstGeom prst="rect">
                  <a:avLst/>
                </a:prstGeom>
                <a:pattFill prst="pct10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730207CE-C72E-8F30-4008-62789FB0FF42}"/>
                    </a:ext>
                  </a:extLst>
                </p:cNvPr>
                <p:cNvSpPr/>
                <p:nvPr/>
              </p:nvSpPr>
              <p:spPr>
                <a:xfrm>
                  <a:off x="8215485" y="5866067"/>
                  <a:ext cx="288032" cy="288000"/>
                </a:xfrm>
                <a:prstGeom prst="rect">
                  <a:avLst/>
                </a:prstGeom>
                <a:pattFill prst="pct10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A779D3A0-4909-E9CC-9874-4A159129EB2E}"/>
                    </a:ext>
                  </a:extLst>
                </p:cNvPr>
                <p:cNvSpPr/>
                <p:nvPr/>
              </p:nvSpPr>
              <p:spPr>
                <a:xfrm>
                  <a:off x="8236050" y="2174493"/>
                  <a:ext cx="288032" cy="288000"/>
                </a:xfrm>
                <a:prstGeom prst="rect">
                  <a:avLst/>
                </a:prstGeom>
                <a:pattFill prst="pct10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sp>
              <p:nvSpPr>
                <p:cNvPr id="112" name="矩形 111">
                  <a:extLst>
                    <a:ext uri="{FF2B5EF4-FFF2-40B4-BE49-F238E27FC236}">
                      <a16:creationId xmlns:a16="http://schemas.microsoft.com/office/drawing/2014/main" id="{6894C81E-E919-4180-2459-17BD67E4D9CC}"/>
                    </a:ext>
                  </a:extLst>
                </p:cNvPr>
                <p:cNvSpPr/>
                <p:nvPr/>
              </p:nvSpPr>
              <p:spPr>
                <a:xfrm>
                  <a:off x="9191421" y="2170678"/>
                  <a:ext cx="288032" cy="288000"/>
                </a:xfrm>
                <a:prstGeom prst="rect">
                  <a:avLst/>
                </a:prstGeom>
                <a:pattFill prst="pct10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sp>
              <p:nvSpPr>
                <p:cNvPr id="113" name="矩形 112">
                  <a:extLst>
                    <a:ext uri="{FF2B5EF4-FFF2-40B4-BE49-F238E27FC236}">
                      <a16:creationId xmlns:a16="http://schemas.microsoft.com/office/drawing/2014/main" id="{49D7368C-3D63-B28B-2913-38BE81400855}"/>
                    </a:ext>
                  </a:extLst>
                </p:cNvPr>
                <p:cNvSpPr/>
                <p:nvPr/>
              </p:nvSpPr>
              <p:spPr>
                <a:xfrm>
                  <a:off x="9173643" y="5872180"/>
                  <a:ext cx="288032" cy="288000"/>
                </a:xfrm>
                <a:prstGeom prst="rect">
                  <a:avLst/>
                </a:prstGeom>
                <a:pattFill prst="pct10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4" name="文本框 113">
                      <a:extLst>
                        <a:ext uri="{FF2B5EF4-FFF2-40B4-BE49-F238E27FC236}">
                          <a16:creationId xmlns:a16="http://schemas.microsoft.com/office/drawing/2014/main" id="{CDFBB251-D623-FF45-F6EB-F4D3CE9493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38221" y="6352518"/>
                      <a:ext cx="392463" cy="37888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2542" dirty="0"/>
                    </a:p>
                    <a:p>
                      <a:endParaRPr lang="zh-CN" altLang="en-US" sz="2542" dirty="0"/>
                    </a:p>
                  </p:txBody>
                </p:sp>
              </mc:Choice>
              <mc:Fallback xmlns="">
                <p:sp>
                  <p:nvSpPr>
                    <p:cNvPr id="114" name="文本框 113">
                      <a:extLst>
                        <a:ext uri="{FF2B5EF4-FFF2-40B4-BE49-F238E27FC236}">
                          <a16:creationId xmlns:a16="http://schemas.microsoft.com/office/drawing/2014/main" id="{CDFBB251-D623-FF45-F6EB-F4D3CE9493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38221" y="6352518"/>
                      <a:ext cx="392463" cy="378880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54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5" name="文本框 114">
                      <a:extLst>
                        <a:ext uri="{FF2B5EF4-FFF2-40B4-BE49-F238E27FC236}">
                          <a16:creationId xmlns:a16="http://schemas.microsoft.com/office/drawing/2014/main" id="{4D648F90-7247-BB7B-7DDF-47A5126474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62778" y="1749894"/>
                      <a:ext cx="332420" cy="37888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2542" dirty="0"/>
                    </a:p>
                    <a:p>
                      <a:endParaRPr lang="zh-CN" altLang="en-US" sz="2542" dirty="0"/>
                    </a:p>
                  </p:txBody>
                </p:sp>
              </mc:Choice>
              <mc:Fallback xmlns="">
                <p:sp>
                  <p:nvSpPr>
                    <p:cNvPr id="115" name="文本框 114">
                      <a:extLst>
                        <a:ext uri="{FF2B5EF4-FFF2-40B4-BE49-F238E27FC236}">
                          <a16:creationId xmlns:a16="http://schemas.microsoft.com/office/drawing/2014/main" id="{4D648F90-7247-BB7B-7DDF-47A5126474E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62778" y="1749894"/>
                      <a:ext cx="332420" cy="378880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649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1" name="矩形 120">
                  <a:extLst>
                    <a:ext uri="{FF2B5EF4-FFF2-40B4-BE49-F238E27FC236}">
                      <a16:creationId xmlns:a16="http://schemas.microsoft.com/office/drawing/2014/main" id="{7A3B5E8B-06D0-6244-C5F8-DEDEF783BB80}"/>
                    </a:ext>
                  </a:extLst>
                </p:cNvPr>
                <p:cNvSpPr/>
                <p:nvPr/>
              </p:nvSpPr>
              <p:spPr>
                <a:xfrm>
                  <a:off x="7668183" y="3231633"/>
                  <a:ext cx="1950477" cy="46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542" dirty="0">
                      <a:solidFill>
                        <a:schemeClr val="tx1"/>
                      </a:solidFill>
                    </a:rPr>
                    <a:t>………</a:t>
                  </a:r>
                  <a:endParaRPr lang="zh-CN" altLang="en-US" sz="2542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6B630C6F-C83E-E8C3-0E8F-BB8F56CAE48C}"/>
                    </a:ext>
                  </a:extLst>
                </p:cNvPr>
                <p:cNvSpPr/>
                <p:nvPr/>
              </p:nvSpPr>
              <p:spPr>
                <a:xfrm>
                  <a:off x="7649852" y="4463556"/>
                  <a:ext cx="2055918" cy="46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542" dirty="0">
                      <a:solidFill>
                        <a:schemeClr val="tx1"/>
                      </a:solidFill>
                    </a:rPr>
                    <a:t>………</a:t>
                  </a:r>
                  <a:endParaRPr lang="zh-CN" altLang="en-US" sz="2542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矩形 122">
                  <a:extLst>
                    <a:ext uri="{FF2B5EF4-FFF2-40B4-BE49-F238E27FC236}">
                      <a16:creationId xmlns:a16="http://schemas.microsoft.com/office/drawing/2014/main" id="{32AF6D09-FF48-E7AF-4437-226EEBD9D70B}"/>
                    </a:ext>
                  </a:extLst>
                </p:cNvPr>
                <p:cNvSpPr/>
                <p:nvPr/>
              </p:nvSpPr>
              <p:spPr>
                <a:xfrm>
                  <a:off x="7825997" y="3348937"/>
                  <a:ext cx="288032" cy="288000"/>
                </a:xfrm>
                <a:prstGeom prst="rect">
                  <a:avLst/>
                </a:prstGeom>
                <a:pattFill prst="wdUpDiag">
                  <a:fgClr>
                    <a:srgbClr val="FADAF8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8C56CF11-1BB3-C60B-AA36-48E527FDBDF6}"/>
                    </a:ext>
                  </a:extLst>
                </p:cNvPr>
                <p:cNvSpPr/>
                <p:nvPr/>
              </p:nvSpPr>
              <p:spPr>
                <a:xfrm>
                  <a:off x="8199397" y="3337583"/>
                  <a:ext cx="288032" cy="288000"/>
                </a:xfrm>
                <a:prstGeom prst="rect">
                  <a:avLst/>
                </a:prstGeom>
                <a:pattFill prst="wdUpDiag">
                  <a:fgClr>
                    <a:srgbClr val="FADAF8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sp>
              <p:nvSpPr>
                <p:cNvPr id="125" name="矩形 124">
                  <a:extLst>
                    <a:ext uri="{FF2B5EF4-FFF2-40B4-BE49-F238E27FC236}">
                      <a16:creationId xmlns:a16="http://schemas.microsoft.com/office/drawing/2014/main" id="{AB6E4456-5B6C-DF0E-6542-EE6B596771DC}"/>
                    </a:ext>
                  </a:extLst>
                </p:cNvPr>
                <p:cNvSpPr/>
                <p:nvPr/>
              </p:nvSpPr>
              <p:spPr>
                <a:xfrm>
                  <a:off x="7792739" y="4543328"/>
                  <a:ext cx="288032" cy="288000"/>
                </a:xfrm>
                <a:prstGeom prst="rect">
                  <a:avLst/>
                </a:prstGeom>
                <a:pattFill prst="wdUpDiag">
                  <a:fgClr>
                    <a:srgbClr val="FADAF8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sp>
              <p:nvSpPr>
                <p:cNvPr id="126" name="矩形 125">
                  <a:extLst>
                    <a:ext uri="{FF2B5EF4-FFF2-40B4-BE49-F238E27FC236}">
                      <a16:creationId xmlns:a16="http://schemas.microsoft.com/office/drawing/2014/main" id="{65E69997-FCCA-2405-42A3-B173C963E75C}"/>
                    </a:ext>
                  </a:extLst>
                </p:cNvPr>
                <p:cNvSpPr/>
                <p:nvPr/>
              </p:nvSpPr>
              <p:spPr>
                <a:xfrm>
                  <a:off x="8184776" y="4553555"/>
                  <a:ext cx="288032" cy="288000"/>
                </a:xfrm>
                <a:prstGeom prst="rect">
                  <a:avLst/>
                </a:prstGeom>
                <a:pattFill prst="wdUpDiag">
                  <a:fgClr>
                    <a:srgbClr val="FADAF8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CE5AC541-474D-F2AD-A587-57956402E9DA}"/>
                    </a:ext>
                  </a:extLst>
                </p:cNvPr>
                <p:cNvSpPr txBox="1"/>
                <p:nvPr/>
              </p:nvSpPr>
              <p:spPr>
                <a:xfrm>
                  <a:off x="7855870" y="3773682"/>
                  <a:ext cx="2376264" cy="1709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94" b="1" dirty="0"/>
                    <a:t>Low-scale text features</a:t>
                  </a:r>
                  <a:endParaRPr lang="zh-CN" altLang="en-US" sz="1694" b="1" dirty="0"/>
                </a:p>
              </p:txBody>
            </p:sp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4CB6AE07-C589-1DDF-90CF-B0AC2E6768D9}"/>
                    </a:ext>
                  </a:extLst>
                </p:cNvPr>
                <p:cNvSpPr txBox="1"/>
                <p:nvPr/>
              </p:nvSpPr>
              <p:spPr>
                <a:xfrm>
                  <a:off x="7812199" y="5021556"/>
                  <a:ext cx="2376264" cy="1709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94" b="1" dirty="0"/>
                    <a:t>High-scale text features</a:t>
                  </a:r>
                  <a:endParaRPr lang="zh-CN" altLang="en-US" sz="1694" b="1" dirty="0"/>
                </a:p>
              </p:txBody>
            </p:sp>
            <p:sp>
              <p:nvSpPr>
                <p:cNvPr id="129" name="矩形 128">
                  <a:extLst>
                    <a:ext uri="{FF2B5EF4-FFF2-40B4-BE49-F238E27FC236}">
                      <a16:creationId xmlns:a16="http://schemas.microsoft.com/office/drawing/2014/main" id="{30E1A847-D204-4998-99FF-34EEAC8BBF9A}"/>
                    </a:ext>
                  </a:extLst>
                </p:cNvPr>
                <p:cNvSpPr/>
                <p:nvPr/>
              </p:nvSpPr>
              <p:spPr>
                <a:xfrm>
                  <a:off x="9209104" y="3355437"/>
                  <a:ext cx="288032" cy="288000"/>
                </a:xfrm>
                <a:prstGeom prst="rect">
                  <a:avLst/>
                </a:prstGeom>
                <a:pattFill prst="wdUpDiag">
                  <a:fgClr>
                    <a:srgbClr val="FADAF8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sp>
              <p:nvSpPr>
                <p:cNvPr id="130" name="矩形 129">
                  <a:extLst>
                    <a:ext uri="{FF2B5EF4-FFF2-40B4-BE49-F238E27FC236}">
                      <a16:creationId xmlns:a16="http://schemas.microsoft.com/office/drawing/2014/main" id="{CF8987A4-843C-EDBD-2247-9EDFCA162BF2}"/>
                    </a:ext>
                  </a:extLst>
                </p:cNvPr>
                <p:cNvSpPr/>
                <p:nvPr/>
              </p:nvSpPr>
              <p:spPr>
                <a:xfrm>
                  <a:off x="9209841" y="4587013"/>
                  <a:ext cx="288032" cy="288000"/>
                </a:xfrm>
                <a:prstGeom prst="rect">
                  <a:avLst/>
                </a:prstGeom>
                <a:pattFill prst="wdUpDiag">
                  <a:fgClr>
                    <a:srgbClr val="FADAF8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1" name="文本框 130">
                      <a:extLst>
                        <a:ext uri="{FF2B5EF4-FFF2-40B4-BE49-F238E27FC236}">
                          <a16:creationId xmlns:a16="http://schemas.microsoft.com/office/drawing/2014/main" id="{E094A13A-E6C3-0F9B-9B3D-1CE797811A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44988" y="5028895"/>
                      <a:ext cx="383379" cy="37888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2542" dirty="0"/>
                    </a:p>
                    <a:p>
                      <a:endParaRPr lang="zh-CN" altLang="en-US" sz="2542" dirty="0"/>
                    </a:p>
                  </p:txBody>
                </p:sp>
              </mc:Choice>
              <mc:Fallback xmlns="">
                <p:sp>
                  <p:nvSpPr>
                    <p:cNvPr id="131" name="文本框 130">
                      <a:extLst>
                        <a:ext uri="{FF2B5EF4-FFF2-40B4-BE49-F238E27FC236}">
                          <a16:creationId xmlns:a16="http://schemas.microsoft.com/office/drawing/2014/main" id="{E094A13A-E6C3-0F9B-9B3D-1CE797811A7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44988" y="5028895"/>
                      <a:ext cx="383379" cy="378880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56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2" name="文本框 131">
                      <a:extLst>
                        <a:ext uri="{FF2B5EF4-FFF2-40B4-BE49-F238E27FC236}">
                          <a16:creationId xmlns:a16="http://schemas.microsoft.com/office/drawing/2014/main" id="{BD1CECC8-E19D-E9D9-8446-678D5C709F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40893" y="3932034"/>
                      <a:ext cx="335190" cy="37888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542" i="1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2542" dirty="0"/>
                    </a:p>
                    <a:p>
                      <a:endParaRPr lang="zh-CN" altLang="en-US" sz="2542" dirty="0"/>
                    </a:p>
                  </p:txBody>
                </p:sp>
              </mc:Choice>
              <mc:Fallback xmlns="">
                <p:sp>
                  <p:nvSpPr>
                    <p:cNvPr id="132" name="文本框 131">
                      <a:extLst>
                        <a:ext uri="{FF2B5EF4-FFF2-40B4-BE49-F238E27FC236}">
                          <a16:creationId xmlns:a16="http://schemas.microsoft.com/office/drawing/2014/main" id="{BD1CECC8-E19D-E9D9-8446-678D5C709F5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40893" y="3932034"/>
                      <a:ext cx="335190" cy="378880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8DFCF1B1-F016-EBC4-9B28-2429882EEAD2}"/>
                    </a:ext>
                  </a:extLst>
                </p:cNvPr>
                <p:cNvSpPr txBox="1"/>
                <p:nvPr/>
              </p:nvSpPr>
              <p:spPr>
                <a:xfrm>
                  <a:off x="6464562" y="1782588"/>
                  <a:ext cx="648072" cy="2341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542" dirty="0"/>
                    <a:t>❄️</a:t>
                  </a:r>
                </a:p>
              </p:txBody>
            </p:sp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F1FD03D0-986D-5640-1D61-E34B15559253}"/>
                    </a:ext>
                  </a:extLst>
                </p:cNvPr>
                <p:cNvSpPr txBox="1"/>
                <p:nvPr/>
              </p:nvSpPr>
              <p:spPr>
                <a:xfrm>
                  <a:off x="6783475" y="4224501"/>
                  <a:ext cx="648072" cy="2341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542" dirty="0"/>
                    <a:t>❄️</a:t>
                  </a:r>
                </a:p>
              </p:txBody>
            </p:sp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905A7DB1-445B-E363-53FA-DF59B4946D89}"/>
                    </a:ext>
                  </a:extLst>
                </p:cNvPr>
                <p:cNvSpPr txBox="1"/>
                <p:nvPr/>
              </p:nvSpPr>
              <p:spPr>
                <a:xfrm>
                  <a:off x="6811205" y="2966919"/>
                  <a:ext cx="648072" cy="2341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542" dirty="0"/>
                    <a:t>❄️</a:t>
                  </a:r>
                </a:p>
              </p:txBody>
            </p:sp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F31F0798-5BEF-DCD4-451A-FDA8A239CCBC}"/>
                    </a:ext>
                  </a:extLst>
                </p:cNvPr>
                <p:cNvSpPr txBox="1"/>
                <p:nvPr/>
              </p:nvSpPr>
              <p:spPr>
                <a:xfrm>
                  <a:off x="6465067" y="5486494"/>
                  <a:ext cx="648072" cy="2341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542" dirty="0"/>
                    <a:t>❄️</a:t>
                  </a:r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515B36C8-163B-4EC4-3C9B-3C8583BA0F4A}"/>
                  </a:ext>
                </a:extLst>
              </p:cNvPr>
              <p:cNvGrpSpPr/>
              <p:nvPr/>
            </p:nvGrpSpPr>
            <p:grpSpPr>
              <a:xfrm>
                <a:off x="9051169" y="883197"/>
                <a:ext cx="1085444" cy="899136"/>
                <a:chOff x="7250944" y="883197"/>
                <a:chExt cx="1085444" cy="899136"/>
              </a:xfrm>
            </p:grpSpPr>
            <p:grpSp>
              <p:nvGrpSpPr>
                <p:cNvPr id="8" name="组合 7">
                  <a:extLst>
                    <a:ext uri="{FF2B5EF4-FFF2-40B4-BE49-F238E27FC236}">
                      <a16:creationId xmlns:a16="http://schemas.microsoft.com/office/drawing/2014/main" id="{45683BA7-3509-E02B-ED24-FB30723633C4}"/>
                    </a:ext>
                  </a:extLst>
                </p:cNvPr>
                <p:cNvGrpSpPr/>
                <p:nvPr/>
              </p:nvGrpSpPr>
              <p:grpSpPr>
                <a:xfrm>
                  <a:off x="7337786" y="1256520"/>
                  <a:ext cx="695760" cy="525813"/>
                  <a:chOff x="5722847" y="483891"/>
                  <a:chExt cx="695760" cy="525813"/>
                </a:xfrm>
              </p:grpSpPr>
              <p:sp>
                <p:nvSpPr>
                  <p:cNvPr id="3" name="椭圆 2">
                    <a:extLst>
                      <a:ext uri="{FF2B5EF4-FFF2-40B4-BE49-F238E27FC236}">
                        <a16:creationId xmlns:a16="http://schemas.microsoft.com/office/drawing/2014/main" id="{6E1E3CB9-F417-CDE0-5C04-13130E6F250E}"/>
                      </a:ext>
                    </a:extLst>
                  </p:cNvPr>
                  <p:cNvSpPr/>
                  <p:nvPr/>
                </p:nvSpPr>
                <p:spPr>
                  <a:xfrm>
                    <a:off x="6131640" y="483891"/>
                    <a:ext cx="216000" cy="216000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4" name="椭圆 3">
                    <a:extLst>
                      <a:ext uri="{FF2B5EF4-FFF2-40B4-BE49-F238E27FC236}">
                        <a16:creationId xmlns:a16="http://schemas.microsoft.com/office/drawing/2014/main" id="{4A5D0FCC-31A5-5060-0AED-D5CCF70B4164}"/>
                      </a:ext>
                    </a:extLst>
                  </p:cNvPr>
                  <p:cNvSpPr/>
                  <p:nvPr/>
                </p:nvSpPr>
                <p:spPr>
                  <a:xfrm>
                    <a:off x="5897220" y="532804"/>
                    <a:ext cx="216000" cy="216000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5" name="椭圆 4">
                    <a:extLst>
                      <a:ext uri="{FF2B5EF4-FFF2-40B4-BE49-F238E27FC236}">
                        <a16:creationId xmlns:a16="http://schemas.microsoft.com/office/drawing/2014/main" id="{DF116C94-6AFC-2DDF-4088-7D0745C982FD}"/>
                      </a:ext>
                    </a:extLst>
                  </p:cNvPr>
                  <p:cNvSpPr/>
                  <p:nvPr/>
                </p:nvSpPr>
                <p:spPr>
                  <a:xfrm>
                    <a:off x="6202607" y="713366"/>
                    <a:ext cx="216000" cy="216000"/>
                  </a:xfrm>
                  <a:prstGeom prst="ellipse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6" name="椭圆 5">
                    <a:extLst>
                      <a:ext uri="{FF2B5EF4-FFF2-40B4-BE49-F238E27FC236}">
                        <a16:creationId xmlns:a16="http://schemas.microsoft.com/office/drawing/2014/main" id="{36AA706E-F599-B6AA-86BC-85B22EFBB5AB}"/>
                      </a:ext>
                    </a:extLst>
                  </p:cNvPr>
                  <p:cNvSpPr/>
                  <p:nvPr/>
                </p:nvSpPr>
                <p:spPr>
                  <a:xfrm>
                    <a:off x="5722847" y="720051"/>
                    <a:ext cx="216000" cy="216000"/>
                  </a:xfrm>
                  <a:prstGeom prst="ellipse">
                    <a:avLst/>
                  </a:prstGeom>
                  <a:solidFill>
                    <a:srgbClr val="FADAF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7" name="椭圆 6">
                    <a:extLst>
                      <a:ext uri="{FF2B5EF4-FFF2-40B4-BE49-F238E27FC236}">
                        <a16:creationId xmlns:a16="http://schemas.microsoft.com/office/drawing/2014/main" id="{4E8E08FA-6736-98A7-8325-1CAAAFD63C72}"/>
                      </a:ext>
                    </a:extLst>
                  </p:cNvPr>
                  <p:cNvSpPr/>
                  <p:nvPr/>
                </p:nvSpPr>
                <p:spPr>
                  <a:xfrm>
                    <a:off x="5962727" y="793704"/>
                    <a:ext cx="216000" cy="21600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</p:grp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1D4F892C-B02C-B736-7FD8-8B93CE4CA50B}"/>
                    </a:ext>
                  </a:extLst>
                </p:cNvPr>
                <p:cNvSpPr txBox="1"/>
                <p:nvPr/>
              </p:nvSpPr>
              <p:spPr>
                <a:xfrm>
                  <a:off x="7250944" y="883197"/>
                  <a:ext cx="1085444" cy="1709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94" b="1" dirty="0">
                      <a:ea typeface="+mj-ea"/>
                    </a:rPr>
                    <a:t>Initial proto</a:t>
                  </a:r>
                  <a:endParaRPr lang="zh-CN" altLang="en-US" sz="1694" b="1" dirty="0">
                    <a:ea typeface="+mj-ea"/>
                  </a:endParaRPr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C9767AE9-F0AE-3A94-2191-D9A1D0CEDEC6}"/>
                  </a:ext>
                </a:extLst>
              </p:cNvPr>
              <p:cNvGrpSpPr/>
              <p:nvPr/>
            </p:nvGrpSpPr>
            <p:grpSpPr>
              <a:xfrm>
                <a:off x="9027609" y="6531447"/>
                <a:ext cx="1085444" cy="899136"/>
                <a:chOff x="7250944" y="883197"/>
                <a:chExt cx="1085444" cy="899136"/>
              </a:xfrm>
            </p:grpSpPr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4EB4BD51-4B47-724D-0CFA-BA66B5065C7F}"/>
                    </a:ext>
                  </a:extLst>
                </p:cNvPr>
                <p:cNvGrpSpPr/>
                <p:nvPr/>
              </p:nvGrpSpPr>
              <p:grpSpPr>
                <a:xfrm>
                  <a:off x="7337786" y="1256520"/>
                  <a:ext cx="695760" cy="525813"/>
                  <a:chOff x="5722847" y="483891"/>
                  <a:chExt cx="695760" cy="525813"/>
                </a:xfrm>
              </p:grpSpPr>
              <p:sp>
                <p:nvSpPr>
                  <p:cNvPr id="17" name="椭圆 16">
                    <a:extLst>
                      <a:ext uri="{FF2B5EF4-FFF2-40B4-BE49-F238E27FC236}">
                        <a16:creationId xmlns:a16="http://schemas.microsoft.com/office/drawing/2014/main" id="{312BD36F-8EFD-8118-0A55-DFE70F4A06D0}"/>
                      </a:ext>
                    </a:extLst>
                  </p:cNvPr>
                  <p:cNvSpPr/>
                  <p:nvPr/>
                </p:nvSpPr>
                <p:spPr>
                  <a:xfrm>
                    <a:off x="6131640" y="483891"/>
                    <a:ext cx="216000" cy="216000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18" name="椭圆 17">
                    <a:extLst>
                      <a:ext uri="{FF2B5EF4-FFF2-40B4-BE49-F238E27FC236}">
                        <a16:creationId xmlns:a16="http://schemas.microsoft.com/office/drawing/2014/main" id="{BCCCCF1A-1406-F5AA-92CD-92B3B3F1982A}"/>
                      </a:ext>
                    </a:extLst>
                  </p:cNvPr>
                  <p:cNvSpPr/>
                  <p:nvPr/>
                </p:nvSpPr>
                <p:spPr>
                  <a:xfrm>
                    <a:off x="5897220" y="532804"/>
                    <a:ext cx="216000" cy="216000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19" name="椭圆 18">
                    <a:extLst>
                      <a:ext uri="{FF2B5EF4-FFF2-40B4-BE49-F238E27FC236}">
                        <a16:creationId xmlns:a16="http://schemas.microsoft.com/office/drawing/2014/main" id="{84EE7237-232A-BF4E-3EA8-292A53AF205E}"/>
                      </a:ext>
                    </a:extLst>
                  </p:cNvPr>
                  <p:cNvSpPr/>
                  <p:nvPr/>
                </p:nvSpPr>
                <p:spPr>
                  <a:xfrm>
                    <a:off x="6202607" y="713366"/>
                    <a:ext cx="216000" cy="216000"/>
                  </a:xfrm>
                  <a:prstGeom prst="ellipse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20" name="椭圆 19">
                    <a:extLst>
                      <a:ext uri="{FF2B5EF4-FFF2-40B4-BE49-F238E27FC236}">
                        <a16:creationId xmlns:a16="http://schemas.microsoft.com/office/drawing/2014/main" id="{8DCF417A-AE82-F41B-C2BD-244C04572C8B}"/>
                      </a:ext>
                    </a:extLst>
                  </p:cNvPr>
                  <p:cNvSpPr/>
                  <p:nvPr/>
                </p:nvSpPr>
                <p:spPr>
                  <a:xfrm>
                    <a:off x="5722847" y="720051"/>
                    <a:ext cx="216000" cy="216000"/>
                  </a:xfrm>
                  <a:prstGeom prst="ellipse">
                    <a:avLst/>
                  </a:prstGeom>
                  <a:solidFill>
                    <a:srgbClr val="FADAF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21" name="椭圆 20">
                    <a:extLst>
                      <a:ext uri="{FF2B5EF4-FFF2-40B4-BE49-F238E27FC236}">
                        <a16:creationId xmlns:a16="http://schemas.microsoft.com/office/drawing/2014/main" id="{46241F20-0439-15C1-D624-2AC2794C9830}"/>
                      </a:ext>
                    </a:extLst>
                  </p:cNvPr>
                  <p:cNvSpPr/>
                  <p:nvPr/>
                </p:nvSpPr>
                <p:spPr>
                  <a:xfrm>
                    <a:off x="5962727" y="793704"/>
                    <a:ext cx="216000" cy="21600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</p:grp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68DAF52-0841-43A0-20B8-B62DE40421DC}"/>
                    </a:ext>
                  </a:extLst>
                </p:cNvPr>
                <p:cNvSpPr txBox="1"/>
                <p:nvPr/>
              </p:nvSpPr>
              <p:spPr>
                <a:xfrm>
                  <a:off x="7250944" y="883197"/>
                  <a:ext cx="1085444" cy="1709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94" b="1" dirty="0">
                      <a:ea typeface="+mj-ea"/>
                    </a:rPr>
                    <a:t>Initial proto</a:t>
                  </a:r>
                  <a:endParaRPr lang="zh-CN" altLang="en-US" sz="1694" b="1" dirty="0">
                    <a:ea typeface="+mj-ea"/>
                  </a:endParaRPr>
                </a:p>
              </p:txBody>
            </p:sp>
          </p:grpSp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FEDCE881-D94D-D5AE-8E58-D401C6378C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09672" y="1579919"/>
                <a:ext cx="1616986" cy="1311070"/>
              </a:xfrm>
              <a:prstGeom prst="rect">
                <a:avLst/>
              </a:prstGeom>
            </p:spPr>
          </p:pic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CBCDF71A-C361-9CAF-6AAD-83602B257695}"/>
                  </a:ext>
                </a:extLst>
              </p:cNvPr>
              <p:cNvCxnSpPr>
                <a:stCxn id="23" idx="3"/>
                <a:endCxn id="31" idx="1"/>
              </p:cNvCxnSpPr>
              <p:nvPr/>
            </p:nvCxnSpPr>
            <p:spPr>
              <a:xfrm flipV="1">
                <a:off x="3626658" y="2207130"/>
                <a:ext cx="1315622" cy="283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4D0E52C8-6932-4A2C-B7DE-565F505E7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1634" y="5213395"/>
                <a:ext cx="1535025" cy="1066585"/>
              </a:xfrm>
              <a:prstGeom prst="rect">
                <a:avLst/>
              </a:prstGeom>
            </p:spPr>
          </p:pic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4C78F776-23F3-2726-8563-681EE0EDED75}"/>
                  </a:ext>
                </a:extLst>
              </p:cNvPr>
              <p:cNvCxnSpPr>
                <a:stCxn id="30" idx="3"/>
                <a:endCxn id="43" idx="1"/>
              </p:cNvCxnSpPr>
              <p:nvPr/>
            </p:nvCxnSpPr>
            <p:spPr>
              <a:xfrm flipV="1">
                <a:off x="3626658" y="5730225"/>
                <a:ext cx="1266680" cy="164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218FECA-3C87-193D-968D-DA3C095B3320}"/>
                  </a:ext>
                </a:extLst>
              </p:cNvPr>
              <p:cNvSpPr txBox="1"/>
              <p:nvPr/>
            </p:nvSpPr>
            <p:spPr>
              <a:xfrm>
                <a:off x="2446859" y="1250911"/>
                <a:ext cx="1008112" cy="170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94" b="1" dirty="0"/>
                  <a:t>5x WSI</a:t>
                </a:r>
                <a:endParaRPr lang="zh-CN" altLang="en-US" sz="1694" b="1" dirty="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C5EC46A-8FF4-8B73-DAFC-E2F02BCB0D3D}"/>
                  </a:ext>
                </a:extLst>
              </p:cNvPr>
              <p:cNvSpPr txBox="1"/>
              <p:nvPr/>
            </p:nvSpPr>
            <p:spPr>
              <a:xfrm>
                <a:off x="2369715" y="4928590"/>
                <a:ext cx="1008112" cy="170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94" b="1" dirty="0"/>
                  <a:t>10x WSI</a:t>
                </a:r>
                <a:endParaRPr lang="zh-CN" altLang="en-US" sz="1694" b="1" dirty="0"/>
              </a:p>
            </p:txBody>
          </p:sp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DD51119E-F163-4A2A-4A88-7BB69C83CE41}"/>
                  </a:ext>
                </a:extLst>
              </p:cNvPr>
              <p:cNvSpPr/>
              <p:nvPr/>
            </p:nvSpPr>
            <p:spPr>
              <a:xfrm>
                <a:off x="10857171" y="1991189"/>
                <a:ext cx="1800200" cy="720080"/>
              </a:xfrm>
              <a:prstGeom prst="roundRect">
                <a:avLst/>
              </a:prstGeom>
              <a:pattFill prst="ltDnDiag">
                <a:fgClr>
                  <a:schemeClr val="bg2">
                    <a:lumMod val="90000"/>
                  </a:schemeClr>
                </a:fgClr>
                <a:bgClr>
                  <a:schemeClr val="bg1"/>
                </a:bgClr>
              </a:pattFill>
              <a:ln w="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976" b="1" dirty="0">
                    <a:solidFill>
                      <a:schemeClr val="tx1"/>
                    </a:solidFill>
                  </a:rPr>
                  <a:t>  </a:t>
                </a:r>
              </a:p>
              <a:p>
                <a:pPr algn="ctr"/>
                <a:r>
                  <a:rPr lang="en-US" altLang="zh-CN" sz="1976" b="1" dirty="0">
                    <a:solidFill>
                      <a:schemeClr val="tx1"/>
                    </a:solidFill>
                  </a:rPr>
                  <a:t>Prototype-Guided Attention</a:t>
                </a:r>
                <a:endParaRPr lang="zh-CN" altLang="en-US" sz="1976" b="1" dirty="0">
                  <a:solidFill>
                    <a:schemeClr val="tx1"/>
                  </a:solidFill>
                </a:endParaRPr>
              </a:p>
              <a:p>
                <a:pPr algn="ctr"/>
                <a:endParaRPr lang="zh-CN" altLang="en-US" sz="1976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2ACE7A7D-AFEA-2EDF-BDF6-19CF8778FEA5}"/>
                  </a:ext>
                </a:extLst>
              </p:cNvPr>
              <p:cNvSpPr/>
              <p:nvPr/>
            </p:nvSpPr>
            <p:spPr>
              <a:xfrm>
                <a:off x="10843357" y="5667467"/>
                <a:ext cx="1800200" cy="720080"/>
              </a:xfrm>
              <a:prstGeom prst="roundRect">
                <a:avLst/>
              </a:prstGeom>
              <a:pattFill prst="ltDnDiag">
                <a:fgClr>
                  <a:schemeClr val="bg2">
                    <a:lumMod val="90000"/>
                  </a:schemeClr>
                </a:fgClr>
                <a:bgClr>
                  <a:schemeClr val="bg1"/>
                </a:bgClr>
              </a:pattFill>
              <a:ln w="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976" b="1" dirty="0">
                    <a:solidFill>
                      <a:schemeClr val="tx1"/>
                    </a:solidFill>
                  </a:rPr>
                  <a:t>Prototype-Guided Attention</a:t>
                </a:r>
                <a:endParaRPr lang="zh-CN" altLang="en-US" sz="1976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4DC04567-A57B-550A-2C8D-BC425DD14953}"/>
                  </a:ext>
                </a:extLst>
              </p:cNvPr>
              <p:cNvCxnSpPr/>
              <p:nvPr/>
            </p:nvCxnSpPr>
            <p:spPr>
              <a:xfrm>
                <a:off x="7559428" y="3527673"/>
                <a:ext cx="4178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47B9EDAE-76C7-C6AA-53C5-CEBB0A59AC18}"/>
                  </a:ext>
                </a:extLst>
              </p:cNvPr>
              <p:cNvCxnSpPr/>
              <p:nvPr/>
            </p:nvCxnSpPr>
            <p:spPr>
              <a:xfrm>
                <a:off x="7559428" y="4723779"/>
                <a:ext cx="39007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3954F4B3-9FD7-DAF7-9E56-E74C271E901B}"/>
                  </a:ext>
                </a:extLst>
              </p:cNvPr>
              <p:cNvSpPr/>
              <p:nvPr/>
            </p:nvSpPr>
            <p:spPr>
              <a:xfrm>
                <a:off x="13245506" y="2117229"/>
                <a:ext cx="1800200" cy="468000"/>
              </a:xfrm>
              <a:prstGeom prst="rect">
                <a:avLst/>
              </a:prstGeom>
              <a:solidFill>
                <a:schemeClr val="bg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542" dirty="0">
                    <a:solidFill>
                      <a:schemeClr val="tx1"/>
                    </a:solidFill>
                  </a:rPr>
                  <a:t>………</a:t>
                </a:r>
                <a:endParaRPr lang="zh-CN" altLang="en-US" sz="2542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7B242AF1-ACB6-73FA-9D8D-6B82EBD85AEA}"/>
                  </a:ext>
                </a:extLst>
              </p:cNvPr>
              <p:cNvSpPr/>
              <p:nvPr/>
            </p:nvSpPr>
            <p:spPr>
              <a:xfrm>
                <a:off x="13170587" y="5794854"/>
                <a:ext cx="1949680" cy="468000"/>
              </a:xfrm>
              <a:prstGeom prst="rect">
                <a:avLst/>
              </a:prstGeom>
              <a:solidFill>
                <a:schemeClr val="bg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542" dirty="0">
                    <a:solidFill>
                      <a:schemeClr val="tx1"/>
                    </a:solidFill>
                  </a:rPr>
                  <a:t>………</a:t>
                </a:r>
                <a:endParaRPr lang="zh-CN" altLang="en-US" sz="2542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9" name="直接箭头连接符 148">
                <a:extLst>
                  <a:ext uri="{FF2B5EF4-FFF2-40B4-BE49-F238E27FC236}">
                    <a16:creationId xmlns:a16="http://schemas.microsoft.com/office/drawing/2014/main" id="{C95C9CA5-D26F-0150-6D1D-45313F27D936}"/>
                  </a:ext>
                </a:extLst>
              </p:cNvPr>
              <p:cNvCxnSpPr>
                <a:cxnSpLocks/>
                <a:stCxn id="44" idx="3"/>
                <a:endCxn id="144" idx="1"/>
              </p:cNvCxnSpPr>
              <p:nvPr/>
            </p:nvCxnSpPr>
            <p:spPr>
              <a:xfrm>
                <a:off x="12657372" y="2351229"/>
                <a:ext cx="5881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直接箭头连接符 150">
                <a:extLst>
                  <a:ext uri="{FF2B5EF4-FFF2-40B4-BE49-F238E27FC236}">
                    <a16:creationId xmlns:a16="http://schemas.microsoft.com/office/drawing/2014/main" id="{E9784C85-4EC5-75A3-6682-3D654AACF718}"/>
                  </a:ext>
                </a:extLst>
              </p:cNvPr>
              <p:cNvCxnSpPr>
                <a:cxnSpLocks/>
                <a:stCxn id="46" idx="3"/>
                <a:endCxn id="145" idx="1"/>
              </p:cNvCxnSpPr>
              <p:nvPr/>
            </p:nvCxnSpPr>
            <p:spPr>
              <a:xfrm>
                <a:off x="12643557" y="6027508"/>
                <a:ext cx="527030" cy="13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1EEDB2DC-E032-0466-55D7-395619D795AA}"/>
                  </a:ext>
                </a:extLst>
              </p:cNvPr>
              <p:cNvSpPr/>
              <p:nvPr/>
            </p:nvSpPr>
            <p:spPr>
              <a:xfrm>
                <a:off x="13287529" y="5893660"/>
                <a:ext cx="288032" cy="288000"/>
              </a:xfrm>
              <a:prstGeom prst="rect">
                <a:avLst/>
              </a:prstGeom>
              <a:pattFill prst="pct90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5499AA42-0758-AE91-C6A1-B7E28A5CDC61}"/>
                  </a:ext>
                </a:extLst>
              </p:cNvPr>
              <p:cNvSpPr/>
              <p:nvPr/>
            </p:nvSpPr>
            <p:spPr>
              <a:xfrm>
                <a:off x="13634174" y="5894206"/>
                <a:ext cx="288032" cy="288000"/>
              </a:xfrm>
              <a:prstGeom prst="rect">
                <a:avLst/>
              </a:prstGeom>
              <a:pattFill prst="pct90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E49B2783-C3E1-00E2-8BF1-6BDFCC6D9DE1}"/>
                  </a:ext>
                </a:extLst>
              </p:cNvPr>
              <p:cNvSpPr/>
              <p:nvPr/>
            </p:nvSpPr>
            <p:spPr>
              <a:xfrm>
                <a:off x="14650963" y="5883507"/>
                <a:ext cx="288032" cy="288000"/>
              </a:xfrm>
              <a:prstGeom prst="rect">
                <a:avLst/>
              </a:prstGeom>
              <a:pattFill prst="pct90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5AF69123-0326-AAE8-2FE8-4C1EBF49018C}"/>
                  </a:ext>
                </a:extLst>
              </p:cNvPr>
              <p:cNvSpPr/>
              <p:nvPr/>
            </p:nvSpPr>
            <p:spPr>
              <a:xfrm>
                <a:off x="13396786" y="2243771"/>
                <a:ext cx="288032" cy="288000"/>
              </a:xfrm>
              <a:prstGeom prst="rect">
                <a:avLst/>
              </a:prstGeom>
              <a:pattFill prst="pct90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6FF3AF4D-66AF-15D4-4453-DFEE5A638481}"/>
                  </a:ext>
                </a:extLst>
              </p:cNvPr>
              <p:cNvSpPr/>
              <p:nvPr/>
            </p:nvSpPr>
            <p:spPr>
              <a:xfrm>
                <a:off x="13825195" y="2238264"/>
                <a:ext cx="288032" cy="288000"/>
              </a:xfrm>
              <a:prstGeom prst="rect">
                <a:avLst/>
              </a:prstGeom>
              <a:pattFill prst="pct90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D68A730D-A4CC-E4E0-FAB6-42C9A6C68A86}"/>
                  </a:ext>
                </a:extLst>
              </p:cNvPr>
              <p:cNvSpPr txBox="1"/>
              <p:nvPr/>
            </p:nvSpPr>
            <p:spPr>
              <a:xfrm>
                <a:off x="13462831" y="6296527"/>
                <a:ext cx="2376264" cy="170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94" b="1" dirty="0"/>
                  <a:t>High-scale Prototypes</a:t>
                </a:r>
                <a:endParaRPr lang="zh-CN" altLang="en-US" sz="1694" b="1" dirty="0"/>
              </a:p>
            </p:txBody>
          </p:sp>
          <p:cxnSp>
            <p:nvCxnSpPr>
              <p:cNvPr id="168" name="直接箭头连接符 167">
                <a:extLst>
                  <a:ext uri="{FF2B5EF4-FFF2-40B4-BE49-F238E27FC236}">
                    <a16:creationId xmlns:a16="http://schemas.microsoft.com/office/drawing/2014/main" id="{DACFA529-1C51-2BF2-3E17-D8D23F213E03}"/>
                  </a:ext>
                </a:extLst>
              </p:cNvPr>
              <p:cNvCxnSpPr>
                <a:cxnSpLocks/>
                <a:stCxn id="102" idx="3"/>
                <a:endCxn id="44" idx="1"/>
              </p:cNvCxnSpPr>
              <p:nvPr/>
            </p:nvCxnSpPr>
            <p:spPr>
              <a:xfrm>
                <a:off x="10223723" y="2351229"/>
                <a:ext cx="63344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直接箭头连接符 169">
                <a:extLst>
                  <a:ext uri="{FF2B5EF4-FFF2-40B4-BE49-F238E27FC236}">
                    <a16:creationId xmlns:a16="http://schemas.microsoft.com/office/drawing/2014/main" id="{D5D252C8-B50B-B8A8-D89D-9FE61379E824}"/>
                  </a:ext>
                </a:extLst>
              </p:cNvPr>
              <p:cNvCxnSpPr>
                <a:cxnSpLocks/>
                <a:stCxn id="103" idx="3"/>
                <a:endCxn id="46" idx="1"/>
              </p:cNvCxnSpPr>
              <p:nvPr/>
            </p:nvCxnSpPr>
            <p:spPr>
              <a:xfrm flipV="1">
                <a:off x="10136613" y="6027508"/>
                <a:ext cx="706744" cy="13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连接符: 曲线 173">
                <a:extLst>
                  <a:ext uri="{FF2B5EF4-FFF2-40B4-BE49-F238E27FC236}">
                    <a16:creationId xmlns:a16="http://schemas.microsoft.com/office/drawing/2014/main" id="{17904893-3554-7A07-2A6B-D2CAA239EEC2}"/>
                  </a:ext>
                </a:extLst>
              </p:cNvPr>
              <p:cNvCxnSpPr>
                <a:endCxn id="44" idx="0"/>
              </p:cNvCxnSpPr>
              <p:nvPr/>
            </p:nvCxnSpPr>
            <p:spPr>
              <a:xfrm>
                <a:off x="10113053" y="1439441"/>
                <a:ext cx="1644218" cy="551748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6" name="连接符: 曲线 175">
                <a:extLst>
                  <a:ext uri="{FF2B5EF4-FFF2-40B4-BE49-F238E27FC236}">
                    <a16:creationId xmlns:a16="http://schemas.microsoft.com/office/drawing/2014/main" id="{EE05F25D-80CB-8B16-D7BA-206A706119D5}"/>
                  </a:ext>
                </a:extLst>
              </p:cNvPr>
              <p:cNvCxnSpPr>
                <a:endCxn id="46" idx="2"/>
              </p:cNvCxnSpPr>
              <p:nvPr/>
            </p:nvCxnSpPr>
            <p:spPr>
              <a:xfrm flipV="1">
                <a:off x="10136613" y="6387547"/>
                <a:ext cx="1606844" cy="812534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C1B67A04-3274-FC91-CF1D-A59B0CC44AE1}"/>
                  </a:ext>
                </a:extLst>
              </p:cNvPr>
              <p:cNvSpPr txBox="1"/>
              <p:nvPr/>
            </p:nvSpPr>
            <p:spPr>
              <a:xfrm>
                <a:off x="13431545" y="1790555"/>
                <a:ext cx="2376264" cy="170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94" b="1" dirty="0"/>
                  <a:t>Low-scale Prototypes</a:t>
                </a:r>
                <a:endParaRPr lang="zh-CN" altLang="en-US" sz="1694" b="1" dirty="0"/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5033185A-FA1B-F2E5-217D-987B61628AD4}"/>
                  </a:ext>
                </a:extLst>
              </p:cNvPr>
              <p:cNvSpPr txBox="1"/>
              <p:nvPr/>
            </p:nvSpPr>
            <p:spPr>
              <a:xfrm>
                <a:off x="12261323" y="5587393"/>
                <a:ext cx="429115" cy="234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542" dirty="0"/>
                  <a:t>🔥</a:t>
                </a:r>
              </a:p>
            </p:txBody>
          </p: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728DB84B-D152-24BE-00F2-83BCED959FEA}"/>
                  </a:ext>
                </a:extLst>
              </p:cNvPr>
              <p:cNvSpPr txBox="1"/>
              <p:nvPr/>
            </p:nvSpPr>
            <p:spPr>
              <a:xfrm>
                <a:off x="12286832" y="1920407"/>
                <a:ext cx="429115" cy="234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542" dirty="0"/>
                  <a:t>🔥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1" name="文本框 180">
                    <a:extLst>
                      <a:ext uri="{FF2B5EF4-FFF2-40B4-BE49-F238E27FC236}">
                        <a16:creationId xmlns:a16="http://schemas.microsoft.com/office/drawing/2014/main" id="{F1EC8C88-FC09-9729-6AFA-3A280D1FA85F}"/>
                      </a:ext>
                    </a:extLst>
                  </p:cNvPr>
                  <p:cNvSpPr txBox="1"/>
                  <p:nvPr/>
                </p:nvSpPr>
                <p:spPr>
                  <a:xfrm>
                    <a:off x="12754467" y="1789736"/>
                    <a:ext cx="597392" cy="37888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  <m:t>𝑙𝑜𝑤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542" dirty="0"/>
                  </a:p>
                  <a:p>
                    <a:endParaRPr lang="zh-CN" altLang="en-US" sz="2542" dirty="0"/>
                  </a:p>
                </p:txBody>
              </p:sp>
            </mc:Choice>
            <mc:Fallback xmlns="">
              <p:sp>
                <p:nvSpPr>
                  <p:cNvPr id="181" name="文本框 180">
                    <a:extLst>
                      <a:ext uri="{FF2B5EF4-FFF2-40B4-BE49-F238E27FC236}">
                        <a16:creationId xmlns:a16="http://schemas.microsoft.com/office/drawing/2014/main" id="{F1EC8C88-FC09-9729-6AFA-3A280D1FA8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54467" y="1789736"/>
                    <a:ext cx="597392" cy="37888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17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2" name="文本框 181">
                    <a:extLst>
                      <a:ext uri="{FF2B5EF4-FFF2-40B4-BE49-F238E27FC236}">
                        <a16:creationId xmlns:a16="http://schemas.microsoft.com/office/drawing/2014/main" id="{68144B86-C520-2791-88EA-1AC9DBA592CD}"/>
                      </a:ext>
                    </a:extLst>
                  </p:cNvPr>
                  <p:cNvSpPr txBox="1"/>
                  <p:nvPr/>
                </p:nvSpPr>
                <p:spPr>
                  <a:xfrm>
                    <a:off x="12754467" y="6298299"/>
                    <a:ext cx="687094" cy="39412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  <m:t>𝑖𝑔</m:t>
                              </m:r>
                              <m:r>
                                <a:rPr lang="en-US" altLang="zh-CN" sz="2542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2542" dirty="0"/>
                  </a:p>
                  <a:p>
                    <a:endParaRPr lang="zh-CN" altLang="en-US" sz="2542" dirty="0"/>
                  </a:p>
                </p:txBody>
              </p:sp>
            </mc:Choice>
            <mc:Fallback xmlns="">
              <p:sp>
                <p:nvSpPr>
                  <p:cNvPr id="182" name="文本框 181">
                    <a:extLst>
                      <a:ext uri="{FF2B5EF4-FFF2-40B4-BE49-F238E27FC236}">
                        <a16:creationId xmlns:a16="http://schemas.microsoft.com/office/drawing/2014/main" id="{68144B86-C520-2791-88EA-1AC9DBA592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54467" y="6298299"/>
                    <a:ext cx="687094" cy="394126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681A9879-4C96-BFEE-99D5-9EB42058D071}"/>
                  </a:ext>
                </a:extLst>
              </p:cNvPr>
              <p:cNvSpPr/>
              <p:nvPr/>
            </p:nvSpPr>
            <p:spPr>
              <a:xfrm>
                <a:off x="14585560" y="2246391"/>
                <a:ext cx="288032" cy="288000"/>
              </a:xfrm>
              <a:prstGeom prst="rect">
                <a:avLst/>
              </a:prstGeom>
              <a:pattFill prst="pct90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grpSp>
            <p:nvGrpSpPr>
              <p:cNvPr id="204" name="组合 203">
                <a:extLst>
                  <a:ext uri="{FF2B5EF4-FFF2-40B4-BE49-F238E27FC236}">
                    <a16:creationId xmlns:a16="http://schemas.microsoft.com/office/drawing/2014/main" id="{9EC00A21-CA35-C2E5-C0CE-C957B1963751}"/>
                  </a:ext>
                </a:extLst>
              </p:cNvPr>
              <p:cNvGrpSpPr/>
              <p:nvPr/>
            </p:nvGrpSpPr>
            <p:grpSpPr>
              <a:xfrm>
                <a:off x="13779022" y="6689560"/>
                <a:ext cx="806539" cy="441503"/>
                <a:chOff x="11978796" y="6689560"/>
                <a:chExt cx="806539" cy="441503"/>
              </a:xfrm>
            </p:grpSpPr>
            <p:sp>
              <p:nvSpPr>
                <p:cNvPr id="191" name="矩形 190">
                  <a:extLst>
                    <a:ext uri="{FF2B5EF4-FFF2-40B4-BE49-F238E27FC236}">
                      <a16:creationId xmlns:a16="http://schemas.microsoft.com/office/drawing/2014/main" id="{FB70407D-DD58-DBF9-4EB4-63B16E1F4EB2}"/>
                    </a:ext>
                  </a:extLst>
                </p:cNvPr>
                <p:cNvSpPr/>
                <p:nvPr/>
              </p:nvSpPr>
              <p:spPr>
                <a:xfrm>
                  <a:off x="11978796" y="6689560"/>
                  <a:ext cx="806539" cy="441503"/>
                </a:xfrm>
                <a:prstGeom prst="rect">
                  <a:avLst/>
                </a:prstGeom>
                <a:noFill/>
                <a:ln w="12700">
                  <a:solidFill>
                    <a:schemeClr val="accent2">
                      <a:lumMod val="75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542" dirty="0"/>
                    <a:t>\</a:t>
                  </a:r>
                  <a:endParaRPr lang="zh-CN" altLang="en-US" sz="2542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3" name="文本框 202">
                      <a:extLst>
                        <a:ext uri="{FF2B5EF4-FFF2-40B4-BE49-F238E27FC236}">
                          <a16:creationId xmlns:a16="http://schemas.microsoft.com/office/drawing/2014/main" id="{AAFA2DAD-2178-0F28-00E3-E614E211D7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78796" y="6749772"/>
                      <a:ext cx="765533" cy="37888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542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42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</m:e>
                              <m:sub>
                                <m:r>
                                  <a:rPr lang="en-US" altLang="zh-CN" sz="2542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𝑜𝑟𝑡</m:t>
                                </m:r>
                                <m:r>
                                  <a:rPr lang="en-US" altLang="zh-CN" sz="2542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zh-CN" sz="2542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2542" dirty="0">
                        <a:ea typeface="Cambria Math" panose="02040503050406030204" pitchFamily="18" charset="0"/>
                      </a:endParaRPr>
                    </a:p>
                    <a:p>
                      <a:endParaRPr lang="zh-CN" altLang="en-US" sz="2542" dirty="0"/>
                    </a:p>
                  </p:txBody>
                </p:sp>
              </mc:Choice>
              <mc:Fallback xmlns="">
                <p:sp>
                  <p:nvSpPr>
                    <p:cNvPr id="203" name="文本框 202">
                      <a:extLst>
                        <a:ext uri="{FF2B5EF4-FFF2-40B4-BE49-F238E27FC236}">
                          <a16:creationId xmlns:a16="http://schemas.microsoft.com/office/drawing/2014/main" id="{AAFA2DAD-2178-0F28-00E3-E614E211D7F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78796" y="6749772"/>
                      <a:ext cx="765533" cy="378880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113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1814D4E2-4EAC-B551-68D5-DD56C60D767B}"/>
                  </a:ext>
                </a:extLst>
              </p:cNvPr>
              <p:cNvGrpSpPr/>
              <p:nvPr/>
            </p:nvGrpSpPr>
            <p:grpSpPr>
              <a:xfrm>
                <a:off x="13751628" y="1189416"/>
                <a:ext cx="806539" cy="441503"/>
                <a:chOff x="11978796" y="6689560"/>
                <a:chExt cx="806539" cy="441503"/>
              </a:xfrm>
            </p:grpSpPr>
            <p:sp>
              <p:nvSpPr>
                <p:cNvPr id="206" name="矩形 205">
                  <a:extLst>
                    <a:ext uri="{FF2B5EF4-FFF2-40B4-BE49-F238E27FC236}">
                      <a16:creationId xmlns:a16="http://schemas.microsoft.com/office/drawing/2014/main" id="{45CE146D-EC61-8D07-546D-E19CF7E0BE37}"/>
                    </a:ext>
                  </a:extLst>
                </p:cNvPr>
                <p:cNvSpPr/>
                <p:nvPr/>
              </p:nvSpPr>
              <p:spPr>
                <a:xfrm>
                  <a:off x="11978796" y="6689560"/>
                  <a:ext cx="806539" cy="441503"/>
                </a:xfrm>
                <a:prstGeom prst="rect">
                  <a:avLst/>
                </a:prstGeom>
                <a:noFill/>
                <a:ln w="12700">
                  <a:solidFill>
                    <a:schemeClr val="accent2">
                      <a:lumMod val="75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542" dirty="0"/>
                    <a:t>\</a:t>
                  </a:r>
                  <a:endParaRPr lang="zh-CN" altLang="en-US" sz="2542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7" name="文本框 206">
                      <a:extLst>
                        <a:ext uri="{FF2B5EF4-FFF2-40B4-BE49-F238E27FC236}">
                          <a16:creationId xmlns:a16="http://schemas.microsoft.com/office/drawing/2014/main" id="{37270613-FD79-9F29-E4AB-B0F4921ED55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78796" y="6749772"/>
                      <a:ext cx="765533" cy="37888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542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42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</m:e>
                              <m:sub>
                                <m:r>
                                  <a:rPr lang="en-US" altLang="zh-CN" sz="2542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𝑜𝑟𝑡</m:t>
                                </m:r>
                                <m:r>
                                  <a:rPr lang="en-US" altLang="zh-CN" sz="2542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zh-CN" sz="2542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2542" dirty="0">
                        <a:ea typeface="Cambria Math" panose="02040503050406030204" pitchFamily="18" charset="0"/>
                      </a:endParaRPr>
                    </a:p>
                    <a:p>
                      <a:endParaRPr lang="zh-CN" altLang="en-US" sz="2542" dirty="0"/>
                    </a:p>
                  </p:txBody>
                </p:sp>
              </mc:Choice>
              <mc:Fallback xmlns="">
                <p:sp>
                  <p:nvSpPr>
                    <p:cNvPr id="207" name="文本框 206">
                      <a:extLst>
                        <a:ext uri="{FF2B5EF4-FFF2-40B4-BE49-F238E27FC236}">
                          <a16:creationId xmlns:a16="http://schemas.microsoft.com/office/drawing/2014/main" id="{37270613-FD79-9F29-E4AB-B0F4921ED55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78796" y="6749772"/>
                      <a:ext cx="765533" cy="378880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56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13" name="连接符: 曲线 212">
                <a:extLst>
                  <a:ext uri="{FF2B5EF4-FFF2-40B4-BE49-F238E27FC236}">
                    <a16:creationId xmlns:a16="http://schemas.microsoft.com/office/drawing/2014/main" id="{67B5CD36-9480-181E-25CF-7E1DA6F36050}"/>
                  </a:ext>
                </a:extLst>
              </p:cNvPr>
              <p:cNvCxnSpPr>
                <a:stCxn id="177" idx="1"/>
                <a:endCxn id="207" idx="1"/>
              </p:cNvCxnSpPr>
              <p:nvPr/>
            </p:nvCxnSpPr>
            <p:spPr>
              <a:xfrm rot="10800000" flipH="1">
                <a:off x="13431545" y="1439068"/>
                <a:ext cx="320082" cy="436969"/>
              </a:xfrm>
              <a:prstGeom prst="curvedConnector3">
                <a:avLst>
                  <a:gd name="adj1" fmla="val -50589"/>
                </a:avLst>
              </a:prstGeom>
              <a:ln>
                <a:solidFill>
                  <a:schemeClr val="accent2">
                    <a:lumMod val="75000"/>
                  </a:schemeClr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矩形: 圆角 10">
                    <a:extLst>
                      <a:ext uri="{FF2B5EF4-FFF2-40B4-BE49-F238E27FC236}">
                        <a16:creationId xmlns:a16="http://schemas.microsoft.com/office/drawing/2014/main" id="{F8F28C16-CB35-0FA8-C780-1B59BB05C704}"/>
                      </a:ext>
                    </a:extLst>
                  </p:cNvPr>
                  <p:cNvSpPr/>
                  <p:nvPr/>
                </p:nvSpPr>
                <p:spPr>
                  <a:xfrm>
                    <a:off x="10856769" y="3149695"/>
                    <a:ext cx="1800200" cy="720080"/>
                  </a:xfrm>
                  <a:prstGeom prst="roundRect">
                    <a:avLst/>
                  </a:prstGeom>
                  <a:pattFill prst="pct30">
                    <a:fgClr>
                      <a:schemeClr val="accent6">
                        <a:lumMod val="40000"/>
                        <a:lumOff val="60000"/>
                      </a:schemeClr>
                    </a:fgClr>
                    <a:bgClr>
                      <a:schemeClr val="bg1"/>
                    </a:bgClr>
                  </a:patt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976" b="1" dirty="0">
                        <a:solidFill>
                          <a:schemeClr val="tx1"/>
                        </a:solidFill>
                      </a:rPr>
                      <a:t>Global Semantic Anchor(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976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oMath>
                    </a14:m>
                    <a:r>
                      <a:rPr lang="en-US" altLang="zh-CN" sz="1976" b="1" dirty="0">
                        <a:solidFill>
                          <a:schemeClr val="tx1"/>
                        </a:solidFill>
                      </a:rPr>
                      <a:t>)</a:t>
                    </a:r>
                    <a:endParaRPr lang="zh-CN" altLang="en-US" sz="1976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矩形: 圆角 10">
                    <a:extLst>
                      <a:ext uri="{FF2B5EF4-FFF2-40B4-BE49-F238E27FC236}">
                        <a16:creationId xmlns:a16="http://schemas.microsoft.com/office/drawing/2014/main" id="{F8F28C16-CB35-0FA8-C780-1B59BB05C70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56769" y="3149695"/>
                    <a:ext cx="1800200" cy="720080"/>
                  </a:xfrm>
                  <a:prstGeom prst="round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矩形: 圆角 11">
                    <a:extLst>
                      <a:ext uri="{FF2B5EF4-FFF2-40B4-BE49-F238E27FC236}">
                        <a16:creationId xmlns:a16="http://schemas.microsoft.com/office/drawing/2014/main" id="{0A15FF3E-1510-FC69-86DA-B0549C3D56C6}"/>
                      </a:ext>
                    </a:extLst>
                  </p:cNvPr>
                  <p:cNvSpPr/>
                  <p:nvPr/>
                </p:nvSpPr>
                <p:spPr>
                  <a:xfrm>
                    <a:off x="10862143" y="4376398"/>
                    <a:ext cx="1800200" cy="720080"/>
                  </a:xfrm>
                  <a:prstGeom prst="roundRect">
                    <a:avLst/>
                  </a:prstGeom>
                  <a:pattFill prst="pct30">
                    <a:fgClr>
                      <a:schemeClr val="accent6">
                        <a:lumMod val="40000"/>
                        <a:lumOff val="60000"/>
                      </a:schemeClr>
                    </a:fgClr>
                    <a:bgClr>
                      <a:schemeClr val="bg1"/>
                    </a:bgClr>
                  </a:patt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976" b="1" dirty="0">
                        <a:solidFill>
                          <a:schemeClr val="tx1"/>
                        </a:solidFill>
                      </a:rPr>
                      <a:t>     </a:t>
                    </a:r>
                  </a:p>
                  <a:p>
                    <a:pPr algn="ctr"/>
                    <a:r>
                      <a:rPr lang="en-US" altLang="zh-CN" sz="1976" b="1" dirty="0">
                        <a:solidFill>
                          <a:schemeClr val="tx1"/>
                        </a:solidFill>
                      </a:rPr>
                      <a:t>Global Semantic Anchor(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976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oMath>
                    </a14:m>
                    <a:r>
                      <a:rPr lang="en-US" altLang="zh-CN" sz="1976" b="1" dirty="0">
                        <a:solidFill>
                          <a:schemeClr val="tx1"/>
                        </a:solidFill>
                      </a:rPr>
                      <a:t>)</a:t>
                    </a:r>
                    <a:endParaRPr lang="zh-CN" altLang="en-US" sz="1976" b="1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zh-CN" altLang="en-US" sz="1976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矩形: 圆角 11">
                    <a:extLst>
                      <a:ext uri="{FF2B5EF4-FFF2-40B4-BE49-F238E27FC236}">
                        <a16:creationId xmlns:a16="http://schemas.microsoft.com/office/drawing/2014/main" id="{0A15FF3E-1510-FC69-86DA-B0549C3D56C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62143" y="4376398"/>
                    <a:ext cx="1800200" cy="720080"/>
                  </a:xfrm>
                  <a:prstGeom prst="round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99CBE5A0-0A63-280B-4C62-FCE9A36C52A5}"/>
                  </a:ext>
                </a:extLst>
              </p:cNvPr>
              <p:cNvCxnSpPr>
                <a:stCxn id="122" idx="3"/>
                <a:endCxn id="12" idx="1"/>
              </p:cNvCxnSpPr>
              <p:nvPr/>
            </p:nvCxnSpPr>
            <p:spPr>
              <a:xfrm>
                <a:off x="10223723" y="4734008"/>
                <a:ext cx="638420" cy="243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96E36462-4CFD-0329-5C8E-163D58145494}"/>
                  </a:ext>
                </a:extLst>
              </p:cNvPr>
              <p:cNvCxnSpPr>
                <a:stCxn id="121" idx="3"/>
                <a:endCxn id="11" idx="1"/>
              </p:cNvCxnSpPr>
              <p:nvPr/>
            </p:nvCxnSpPr>
            <p:spPr>
              <a:xfrm>
                <a:off x="10136613" y="3502085"/>
                <a:ext cx="720156" cy="76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21090A98-0B04-6618-6DBD-C2C724CF0C40}"/>
                  </a:ext>
                </a:extLst>
              </p:cNvPr>
              <p:cNvGrpSpPr/>
              <p:nvPr/>
            </p:nvGrpSpPr>
            <p:grpSpPr>
              <a:xfrm>
                <a:off x="13922206" y="3247336"/>
                <a:ext cx="478800" cy="479967"/>
                <a:chOff x="11977965" y="3251365"/>
                <a:chExt cx="478800" cy="47996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椭圆 37">
                      <a:extLst>
                        <a:ext uri="{FF2B5EF4-FFF2-40B4-BE49-F238E27FC236}">
                          <a16:creationId xmlns:a16="http://schemas.microsoft.com/office/drawing/2014/main" id="{8589BEAF-0357-6238-A091-6B54F975DF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77965" y="3251365"/>
                      <a:ext cx="478800" cy="479967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altLang="zh-CN" sz="2542"/>
                              <m:t>ots</m:t>
                            </m:r>
                          </m:oMath>
                        </m:oMathPara>
                      </a14:m>
                      <a:endParaRPr lang="zh-CN" altLang="en-US" sz="2542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椭圆 37">
                      <a:extLst>
                        <a:ext uri="{FF2B5EF4-FFF2-40B4-BE49-F238E27FC236}">
                          <a16:creationId xmlns:a16="http://schemas.microsoft.com/office/drawing/2014/main" id="{8589BEAF-0357-6238-A091-6B54F975DFA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77965" y="3251365"/>
                      <a:ext cx="478800" cy="479967"/>
                    </a:xfrm>
                    <a:prstGeom prst="ellipse">
                      <a:avLst/>
                    </a:prstGeom>
                    <a:blipFill>
                      <a:blip r:embed="rId28"/>
                      <a:stretch>
                        <a:fillRect l="-877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E0075421-AA67-46E4-22C6-DEC45976FA46}"/>
                    </a:ext>
                  </a:extLst>
                </p:cNvPr>
                <p:cNvCxnSpPr>
                  <a:stCxn id="38" idx="1"/>
                  <a:endCxn id="38" idx="5"/>
                </p:cNvCxnSpPr>
                <p:nvPr/>
              </p:nvCxnSpPr>
              <p:spPr>
                <a:xfrm>
                  <a:off x="12048084" y="3321655"/>
                  <a:ext cx="338562" cy="33938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>
                  <a:extLst>
                    <a:ext uri="{FF2B5EF4-FFF2-40B4-BE49-F238E27FC236}">
                      <a16:creationId xmlns:a16="http://schemas.microsoft.com/office/drawing/2014/main" id="{70B6D331-36A1-6CA1-746E-7B327C78787E}"/>
                    </a:ext>
                  </a:extLst>
                </p:cNvPr>
                <p:cNvCxnSpPr>
                  <a:cxnSpLocks/>
                  <a:stCxn id="38" idx="3"/>
                  <a:endCxn id="38" idx="7"/>
                </p:cNvCxnSpPr>
                <p:nvPr/>
              </p:nvCxnSpPr>
              <p:spPr>
                <a:xfrm flipV="1">
                  <a:off x="12048084" y="3321655"/>
                  <a:ext cx="338562" cy="33938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7B81E41D-27A8-0ABF-6E9E-FDDBAE760796}"/>
                  </a:ext>
                </a:extLst>
              </p:cNvPr>
              <p:cNvGrpSpPr/>
              <p:nvPr/>
            </p:nvGrpSpPr>
            <p:grpSpPr>
              <a:xfrm>
                <a:off x="20160827" y="5267886"/>
                <a:ext cx="478800" cy="478800"/>
                <a:chOff x="9575626" y="431329"/>
                <a:chExt cx="478800" cy="478800"/>
              </a:xfrm>
            </p:grpSpPr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BBA2AE00-12CB-DF09-7A28-712FE7CE539E}"/>
                    </a:ext>
                  </a:extLst>
                </p:cNvPr>
                <p:cNvSpPr/>
                <p:nvPr/>
              </p:nvSpPr>
              <p:spPr>
                <a:xfrm>
                  <a:off x="9575626" y="431329"/>
                  <a:ext cx="478800" cy="4788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cxnSp>
              <p:nvCxnSpPr>
                <p:cNvPr id="74" name="直接连接符 73">
                  <a:extLst>
                    <a:ext uri="{FF2B5EF4-FFF2-40B4-BE49-F238E27FC236}">
                      <a16:creationId xmlns:a16="http://schemas.microsoft.com/office/drawing/2014/main" id="{2DEF4E87-E4EA-1E72-2116-1A994D0D1B3B}"/>
                    </a:ext>
                  </a:extLst>
                </p:cNvPr>
                <p:cNvCxnSpPr>
                  <a:stCxn id="59" idx="2"/>
                  <a:endCxn id="59" idx="6"/>
                </p:cNvCxnSpPr>
                <p:nvPr/>
              </p:nvCxnSpPr>
              <p:spPr>
                <a:xfrm>
                  <a:off x="9575626" y="670729"/>
                  <a:ext cx="4788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E90F2606-44FA-2DED-D372-114BFEA8DC03}"/>
                    </a:ext>
                  </a:extLst>
                </p:cNvPr>
                <p:cNvCxnSpPr>
                  <a:stCxn id="59" idx="0"/>
                  <a:endCxn id="59" idx="4"/>
                </p:cNvCxnSpPr>
                <p:nvPr/>
              </p:nvCxnSpPr>
              <p:spPr>
                <a:xfrm>
                  <a:off x="9815026" y="431329"/>
                  <a:ext cx="0" cy="478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6F57D7A4-8857-91C7-8D67-86ADD55ABA9E}"/>
                  </a:ext>
                </a:extLst>
              </p:cNvPr>
              <p:cNvGrpSpPr/>
              <p:nvPr/>
            </p:nvGrpSpPr>
            <p:grpSpPr>
              <a:xfrm>
                <a:off x="13906027" y="4483796"/>
                <a:ext cx="478800" cy="479967"/>
                <a:chOff x="11977965" y="3251365"/>
                <a:chExt cx="478800" cy="47996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椭圆 87">
                      <a:extLst>
                        <a:ext uri="{FF2B5EF4-FFF2-40B4-BE49-F238E27FC236}">
                          <a16:creationId xmlns:a16="http://schemas.microsoft.com/office/drawing/2014/main" id="{97AB63A7-EEFB-E89B-AF53-CDBAF3527D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77965" y="3251365"/>
                      <a:ext cx="478800" cy="479967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altLang="zh-CN" sz="2542"/>
                              <m:t>ots</m:t>
                            </m:r>
                          </m:oMath>
                        </m:oMathPara>
                      </a14:m>
                      <a:endParaRPr lang="zh-CN" altLang="en-US" sz="2542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8" name="椭圆 87">
                      <a:extLst>
                        <a:ext uri="{FF2B5EF4-FFF2-40B4-BE49-F238E27FC236}">
                          <a16:creationId xmlns:a16="http://schemas.microsoft.com/office/drawing/2014/main" id="{97AB63A7-EEFB-E89B-AF53-CDBAF3527D5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77965" y="3251365"/>
                      <a:ext cx="478800" cy="479967"/>
                    </a:xfrm>
                    <a:prstGeom prst="ellipse">
                      <a:avLst/>
                    </a:prstGeom>
                    <a:blipFill>
                      <a:blip r:embed="rId29"/>
                      <a:stretch>
                        <a:fillRect l="-877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0" name="直接连接符 89">
                  <a:extLst>
                    <a:ext uri="{FF2B5EF4-FFF2-40B4-BE49-F238E27FC236}">
                      <a16:creationId xmlns:a16="http://schemas.microsoft.com/office/drawing/2014/main" id="{23EF57D2-4079-3B6A-B5A6-218599E53FF0}"/>
                    </a:ext>
                  </a:extLst>
                </p:cNvPr>
                <p:cNvCxnSpPr>
                  <a:stCxn id="88" idx="1"/>
                  <a:endCxn id="88" idx="5"/>
                </p:cNvCxnSpPr>
                <p:nvPr/>
              </p:nvCxnSpPr>
              <p:spPr>
                <a:xfrm>
                  <a:off x="12048084" y="3321655"/>
                  <a:ext cx="338562" cy="33938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直接连接符 91">
                  <a:extLst>
                    <a:ext uri="{FF2B5EF4-FFF2-40B4-BE49-F238E27FC236}">
                      <a16:creationId xmlns:a16="http://schemas.microsoft.com/office/drawing/2014/main" id="{9B2A175F-32D1-9118-A0E3-C35B2FF074D2}"/>
                    </a:ext>
                  </a:extLst>
                </p:cNvPr>
                <p:cNvCxnSpPr>
                  <a:cxnSpLocks/>
                  <a:stCxn id="88" idx="3"/>
                  <a:endCxn id="88" idx="7"/>
                </p:cNvCxnSpPr>
                <p:nvPr/>
              </p:nvCxnSpPr>
              <p:spPr>
                <a:xfrm flipV="1">
                  <a:off x="12048084" y="3321655"/>
                  <a:ext cx="338562" cy="33938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5" name="直接箭头连接符 94">
                <a:extLst>
                  <a:ext uri="{FF2B5EF4-FFF2-40B4-BE49-F238E27FC236}">
                    <a16:creationId xmlns:a16="http://schemas.microsoft.com/office/drawing/2014/main" id="{473522E6-E8AD-5F56-F773-8C5742BDDD57}"/>
                  </a:ext>
                </a:extLst>
              </p:cNvPr>
              <p:cNvCxnSpPr>
                <a:stCxn id="144" idx="2"/>
                <a:endCxn id="38" idx="0"/>
              </p:cNvCxnSpPr>
              <p:nvPr/>
            </p:nvCxnSpPr>
            <p:spPr>
              <a:xfrm>
                <a:off x="14145606" y="2585229"/>
                <a:ext cx="16000" cy="6621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连接符: 曲线 116">
                <a:extLst>
                  <a:ext uri="{FF2B5EF4-FFF2-40B4-BE49-F238E27FC236}">
                    <a16:creationId xmlns:a16="http://schemas.microsoft.com/office/drawing/2014/main" id="{9B7C0A6F-8A58-E149-6746-9C7C3F41E118}"/>
                  </a:ext>
                </a:extLst>
              </p:cNvPr>
              <p:cNvCxnSpPr>
                <a:endCxn id="203" idx="1"/>
              </p:cNvCxnSpPr>
              <p:nvPr/>
            </p:nvCxnSpPr>
            <p:spPr>
              <a:xfrm rot="16200000" flipH="1">
                <a:off x="13430304" y="6590494"/>
                <a:ext cx="315197" cy="382239"/>
              </a:xfrm>
              <a:prstGeom prst="curvedConnector2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箭头连接符 118">
                <a:extLst>
                  <a:ext uri="{FF2B5EF4-FFF2-40B4-BE49-F238E27FC236}">
                    <a16:creationId xmlns:a16="http://schemas.microsoft.com/office/drawing/2014/main" id="{4EB80C1E-A1C0-A83A-B7F9-EA608F484E60}"/>
                  </a:ext>
                </a:extLst>
              </p:cNvPr>
              <p:cNvCxnSpPr>
                <a:stCxn id="11" idx="3"/>
                <a:endCxn id="38" idx="2"/>
              </p:cNvCxnSpPr>
              <p:nvPr/>
            </p:nvCxnSpPr>
            <p:spPr>
              <a:xfrm flipV="1">
                <a:off x="12656970" y="3487319"/>
                <a:ext cx="1265237" cy="224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>
                <a:extLst>
                  <a:ext uri="{FF2B5EF4-FFF2-40B4-BE49-F238E27FC236}">
                    <a16:creationId xmlns:a16="http://schemas.microsoft.com/office/drawing/2014/main" id="{49B01A74-BCA5-A323-AAE8-D74778C0E700}"/>
                  </a:ext>
                </a:extLst>
              </p:cNvPr>
              <p:cNvCxnSpPr>
                <a:stCxn id="12" idx="3"/>
                <a:endCxn id="88" idx="2"/>
              </p:cNvCxnSpPr>
              <p:nvPr/>
            </p:nvCxnSpPr>
            <p:spPr>
              <a:xfrm flipV="1">
                <a:off x="12662343" y="4723780"/>
                <a:ext cx="1243684" cy="126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直接箭头连接符 138">
                <a:extLst>
                  <a:ext uri="{FF2B5EF4-FFF2-40B4-BE49-F238E27FC236}">
                    <a16:creationId xmlns:a16="http://schemas.microsoft.com/office/drawing/2014/main" id="{8BA56D40-B47D-FCE3-D8D1-B4390B60CAF5}"/>
                  </a:ext>
                </a:extLst>
              </p:cNvPr>
              <p:cNvCxnSpPr>
                <a:stCxn id="145" idx="0"/>
                <a:endCxn id="88" idx="4"/>
              </p:cNvCxnSpPr>
              <p:nvPr/>
            </p:nvCxnSpPr>
            <p:spPr>
              <a:xfrm flipV="1">
                <a:off x="14145427" y="4963762"/>
                <a:ext cx="0" cy="8310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FAB97B94-25E3-2A4F-9618-8B483DA2320D}"/>
                  </a:ext>
                </a:extLst>
              </p:cNvPr>
              <p:cNvSpPr txBox="1"/>
              <p:nvPr/>
            </p:nvSpPr>
            <p:spPr>
              <a:xfrm>
                <a:off x="20160827" y="2257062"/>
                <a:ext cx="496986" cy="234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542" dirty="0"/>
                  <a:t>🌡️</a:t>
                </a:r>
              </a:p>
            </p:txBody>
          </p:sp>
          <p:cxnSp>
            <p:nvCxnSpPr>
              <p:cNvPr id="167" name="直接箭头连接符 166">
                <a:extLst>
                  <a:ext uri="{FF2B5EF4-FFF2-40B4-BE49-F238E27FC236}">
                    <a16:creationId xmlns:a16="http://schemas.microsoft.com/office/drawing/2014/main" id="{68F32CDD-F509-5546-918E-490A241EF8C6}"/>
                  </a:ext>
                </a:extLst>
              </p:cNvPr>
              <p:cNvCxnSpPr>
                <a:stCxn id="38" idx="6"/>
                <a:endCxn id="148" idx="1"/>
              </p:cNvCxnSpPr>
              <p:nvPr/>
            </p:nvCxnSpPr>
            <p:spPr>
              <a:xfrm flipV="1">
                <a:off x="14401006" y="3470199"/>
                <a:ext cx="3035056" cy="1712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直接箭头连接符 170">
                <a:extLst>
                  <a:ext uri="{FF2B5EF4-FFF2-40B4-BE49-F238E27FC236}">
                    <a16:creationId xmlns:a16="http://schemas.microsoft.com/office/drawing/2014/main" id="{20A26E99-C58D-937C-477B-93A7CDAF78E4}"/>
                  </a:ext>
                </a:extLst>
              </p:cNvPr>
              <p:cNvCxnSpPr>
                <a:stCxn id="88" idx="6"/>
                <a:endCxn id="150" idx="1"/>
              </p:cNvCxnSpPr>
              <p:nvPr/>
            </p:nvCxnSpPr>
            <p:spPr>
              <a:xfrm flipV="1">
                <a:off x="14384827" y="4716169"/>
                <a:ext cx="3047856" cy="76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75" name="组合 174">
                <a:extLst>
                  <a:ext uri="{FF2B5EF4-FFF2-40B4-BE49-F238E27FC236}">
                    <a16:creationId xmlns:a16="http://schemas.microsoft.com/office/drawing/2014/main" id="{33853DF4-8905-24E5-7FD6-AD17F4428ED3}"/>
                  </a:ext>
                </a:extLst>
              </p:cNvPr>
              <p:cNvGrpSpPr/>
              <p:nvPr/>
            </p:nvGrpSpPr>
            <p:grpSpPr>
              <a:xfrm>
                <a:off x="17356046" y="2790472"/>
                <a:ext cx="2280264" cy="913726"/>
                <a:chOff x="14032114" y="2807593"/>
                <a:chExt cx="2280264" cy="913726"/>
              </a:xfrm>
            </p:grpSpPr>
            <p:grpSp>
              <p:nvGrpSpPr>
                <p:cNvPr id="164" name="组合 163">
                  <a:extLst>
                    <a:ext uri="{FF2B5EF4-FFF2-40B4-BE49-F238E27FC236}">
                      <a16:creationId xmlns:a16="http://schemas.microsoft.com/office/drawing/2014/main" id="{9E25ADF0-1916-5CF1-CBB1-C0A8B48A91AB}"/>
                    </a:ext>
                  </a:extLst>
                </p:cNvPr>
                <p:cNvGrpSpPr/>
                <p:nvPr/>
              </p:nvGrpSpPr>
              <p:grpSpPr>
                <a:xfrm>
                  <a:off x="14112130" y="3253319"/>
                  <a:ext cx="1950477" cy="468000"/>
                  <a:chOff x="14415689" y="3261719"/>
                  <a:chExt cx="1950477" cy="468000"/>
                </a:xfrm>
              </p:grpSpPr>
              <p:sp>
                <p:nvSpPr>
                  <p:cNvPr id="148" name="矩形 147">
                    <a:extLst>
                      <a:ext uri="{FF2B5EF4-FFF2-40B4-BE49-F238E27FC236}">
                        <a16:creationId xmlns:a16="http://schemas.microsoft.com/office/drawing/2014/main" id="{5261EFC2-6AB5-0BAA-F617-014669D41D26}"/>
                      </a:ext>
                    </a:extLst>
                  </p:cNvPr>
                  <p:cNvSpPr/>
                  <p:nvPr/>
                </p:nvSpPr>
                <p:spPr>
                  <a:xfrm>
                    <a:off x="14415689" y="3261719"/>
                    <a:ext cx="1950477" cy="468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2542" dirty="0">
                        <a:solidFill>
                          <a:schemeClr val="tx1"/>
                        </a:solidFill>
                      </a:rPr>
                      <a:t>………</a:t>
                    </a:r>
                    <a:endParaRPr lang="zh-CN" altLang="en-US" sz="2542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2" name="矩形 151">
                    <a:extLst>
                      <a:ext uri="{FF2B5EF4-FFF2-40B4-BE49-F238E27FC236}">
                        <a16:creationId xmlns:a16="http://schemas.microsoft.com/office/drawing/2014/main" id="{BB8B2A3E-926C-4331-A88E-99D0D13AF2DA}"/>
                      </a:ext>
                    </a:extLst>
                  </p:cNvPr>
                  <p:cNvSpPr/>
                  <p:nvPr/>
                </p:nvSpPr>
                <p:spPr>
                  <a:xfrm>
                    <a:off x="14488960" y="3351719"/>
                    <a:ext cx="288032" cy="288000"/>
                  </a:xfrm>
                  <a:prstGeom prst="rect">
                    <a:avLst/>
                  </a:prstGeom>
                  <a:gradFill flip="none" rotWithShape="1">
                    <a:gsLst>
                      <a:gs pos="39000">
                        <a:schemeClr val="accent5">
                          <a:lumMod val="40000"/>
                          <a:lumOff val="60000"/>
                        </a:schemeClr>
                      </a:gs>
                      <a:gs pos="100000">
                        <a:schemeClr val="accent4">
                          <a:lumMod val="100000"/>
                        </a:schemeClr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158" name="矩形 157">
                    <a:extLst>
                      <a:ext uri="{FF2B5EF4-FFF2-40B4-BE49-F238E27FC236}">
                        <a16:creationId xmlns:a16="http://schemas.microsoft.com/office/drawing/2014/main" id="{40255910-01A1-4407-3201-DF8F7AC96D88}"/>
                      </a:ext>
                    </a:extLst>
                  </p:cNvPr>
                  <p:cNvSpPr/>
                  <p:nvPr/>
                </p:nvSpPr>
                <p:spPr>
                  <a:xfrm>
                    <a:off x="14812490" y="3343319"/>
                    <a:ext cx="288032" cy="288000"/>
                  </a:xfrm>
                  <a:prstGeom prst="rect">
                    <a:avLst/>
                  </a:prstGeom>
                  <a:gradFill flip="none" rotWithShape="1">
                    <a:gsLst>
                      <a:gs pos="39000">
                        <a:schemeClr val="accent5">
                          <a:lumMod val="40000"/>
                          <a:lumOff val="60000"/>
                        </a:schemeClr>
                      </a:gs>
                      <a:gs pos="100000">
                        <a:schemeClr val="accent4">
                          <a:lumMod val="100000"/>
                        </a:schemeClr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160" name="矩形 159">
                    <a:extLst>
                      <a:ext uri="{FF2B5EF4-FFF2-40B4-BE49-F238E27FC236}">
                        <a16:creationId xmlns:a16="http://schemas.microsoft.com/office/drawing/2014/main" id="{CDBDE27D-2373-A0D3-8CC5-DC6C794FD62A}"/>
                      </a:ext>
                    </a:extLst>
                  </p:cNvPr>
                  <p:cNvSpPr/>
                  <p:nvPr/>
                </p:nvSpPr>
                <p:spPr>
                  <a:xfrm>
                    <a:off x="15768314" y="3343319"/>
                    <a:ext cx="288032" cy="288000"/>
                  </a:xfrm>
                  <a:prstGeom prst="rect">
                    <a:avLst/>
                  </a:prstGeom>
                  <a:gradFill flip="none" rotWithShape="1">
                    <a:gsLst>
                      <a:gs pos="39000">
                        <a:schemeClr val="accent5">
                          <a:lumMod val="40000"/>
                          <a:lumOff val="60000"/>
                        </a:schemeClr>
                      </a:gs>
                      <a:gs pos="100000">
                        <a:schemeClr val="accent4">
                          <a:lumMod val="100000"/>
                        </a:schemeClr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</p:grpSp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82F5C69C-74D6-DEC1-CEC7-41EB81FB4C0C}"/>
                    </a:ext>
                  </a:extLst>
                </p:cNvPr>
                <p:cNvSpPr txBox="1"/>
                <p:nvPr/>
              </p:nvSpPr>
              <p:spPr>
                <a:xfrm>
                  <a:off x="14032114" y="2807593"/>
                  <a:ext cx="2280264" cy="1919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976" b="1" dirty="0"/>
                    <a:t>Semantic Gate(weights)</a:t>
                  </a:r>
                  <a:endParaRPr lang="zh-CN" altLang="en-US" sz="1976" b="1" dirty="0"/>
                </a:p>
              </p:txBody>
            </p:sp>
          </p:grpSp>
          <p:grpSp>
            <p:nvGrpSpPr>
              <p:cNvPr id="178" name="组合 177">
                <a:extLst>
                  <a:ext uri="{FF2B5EF4-FFF2-40B4-BE49-F238E27FC236}">
                    <a16:creationId xmlns:a16="http://schemas.microsoft.com/office/drawing/2014/main" id="{8F718573-BF66-4913-685B-0AEBCE65CC14}"/>
                  </a:ext>
                </a:extLst>
              </p:cNvPr>
              <p:cNvGrpSpPr/>
              <p:nvPr/>
            </p:nvGrpSpPr>
            <p:grpSpPr>
              <a:xfrm>
                <a:off x="17328137" y="4482169"/>
                <a:ext cx="2280264" cy="751453"/>
                <a:chOff x="14007584" y="4500007"/>
                <a:chExt cx="2280264" cy="751453"/>
              </a:xfrm>
            </p:grpSpPr>
            <p:grpSp>
              <p:nvGrpSpPr>
                <p:cNvPr id="165" name="组合 164">
                  <a:extLst>
                    <a:ext uri="{FF2B5EF4-FFF2-40B4-BE49-F238E27FC236}">
                      <a16:creationId xmlns:a16="http://schemas.microsoft.com/office/drawing/2014/main" id="{621C4584-1ABE-28C6-E496-3D742E62C121}"/>
                    </a:ext>
                  </a:extLst>
                </p:cNvPr>
                <p:cNvGrpSpPr/>
                <p:nvPr/>
              </p:nvGrpSpPr>
              <p:grpSpPr>
                <a:xfrm>
                  <a:off x="14112130" y="4500007"/>
                  <a:ext cx="1950477" cy="468000"/>
                  <a:chOff x="14415690" y="4500007"/>
                  <a:chExt cx="1950477" cy="468000"/>
                </a:xfrm>
              </p:grpSpPr>
              <p:sp>
                <p:nvSpPr>
                  <p:cNvPr id="150" name="矩形 149">
                    <a:extLst>
                      <a:ext uri="{FF2B5EF4-FFF2-40B4-BE49-F238E27FC236}">
                        <a16:creationId xmlns:a16="http://schemas.microsoft.com/office/drawing/2014/main" id="{AC9F9DFE-58E7-FB59-A955-D1FE7832FBCC}"/>
                      </a:ext>
                    </a:extLst>
                  </p:cNvPr>
                  <p:cNvSpPr/>
                  <p:nvPr/>
                </p:nvSpPr>
                <p:spPr>
                  <a:xfrm>
                    <a:off x="14415690" y="4500007"/>
                    <a:ext cx="1950477" cy="468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2542" dirty="0">
                        <a:solidFill>
                          <a:schemeClr val="tx1"/>
                        </a:solidFill>
                      </a:rPr>
                      <a:t>………</a:t>
                    </a:r>
                    <a:endParaRPr lang="zh-CN" altLang="en-US" sz="2542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1" name="矩形 160">
                    <a:extLst>
                      <a:ext uri="{FF2B5EF4-FFF2-40B4-BE49-F238E27FC236}">
                        <a16:creationId xmlns:a16="http://schemas.microsoft.com/office/drawing/2014/main" id="{B85548A1-65DA-E8DC-5FE5-BCB0949AABB1}"/>
                      </a:ext>
                    </a:extLst>
                  </p:cNvPr>
                  <p:cNvSpPr/>
                  <p:nvPr/>
                </p:nvSpPr>
                <p:spPr>
                  <a:xfrm>
                    <a:off x="14472576" y="4579779"/>
                    <a:ext cx="288032" cy="288000"/>
                  </a:xfrm>
                  <a:prstGeom prst="rect">
                    <a:avLst/>
                  </a:prstGeom>
                  <a:gradFill flip="none" rotWithShape="1">
                    <a:gsLst>
                      <a:gs pos="39000">
                        <a:schemeClr val="accent5">
                          <a:lumMod val="40000"/>
                          <a:lumOff val="60000"/>
                        </a:schemeClr>
                      </a:gs>
                      <a:gs pos="100000">
                        <a:schemeClr val="accent4">
                          <a:lumMod val="100000"/>
                        </a:schemeClr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162" name="矩形 161">
                    <a:extLst>
                      <a:ext uri="{FF2B5EF4-FFF2-40B4-BE49-F238E27FC236}">
                        <a16:creationId xmlns:a16="http://schemas.microsoft.com/office/drawing/2014/main" id="{F80B138D-275D-9340-7FA3-33AE21312AE8}"/>
                      </a:ext>
                    </a:extLst>
                  </p:cNvPr>
                  <p:cNvSpPr/>
                  <p:nvPr/>
                </p:nvSpPr>
                <p:spPr>
                  <a:xfrm>
                    <a:off x="14776136" y="4590007"/>
                    <a:ext cx="288032" cy="288000"/>
                  </a:xfrm>
                  <a:prstGeom prst="rect">
                    <a:avLst/>
                  </a:prstGeom>
                  <a:gradFill flip="none" rotWithShape="1">
                    <a:gsLst>
                      <a:gs pos="39000">
                        <a:schemeClr val="accent5">
                          <a:lumMod val="40000"/>
                          <a:lumOff val="60000"/>
                        </a:schemeClr>
                      </a:gs>
                      <a:gs pos="100000">
                        <a:schemeClr val="accent4">
                          <a:lumMod val="100000"/>
                        </a:schemeClr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  <p:sp>
                <p:nvSpPr>
                  <p:cNvPr id="163" name="矩形 162">
                    <a:extLst>
                      <a:ext uri="{FF2B5EF4-FFF2-40B4-BE49-F238E27FC236}">
                        <a16:creationId xmlns:a16="http://schemas.microsoft.com/office/drawing/2014/main" id="{0A07EEE5-8EC4-8800-EA12-185DC633259B}"/>
                      </a:ext>
                    </a:extLst>
                  </p:cNvPr>
                  <p:cNvSpPr/>
                  <p:nvPr/>
                </p:nvSpPr>
                <p:spPr>
                  <a:xfrm>
                    <a:off x="15768314" y="4579779"/>
                    <a:ext cx="288032" cy="288000"/>
                  </a:xfrm>
                  <a:prstGeom prst="rect">
                    <a:avLst/>
                  </a:prstGeom>
                  <a:gradFill flip="none" rotWithShape="1">
                    <a:gsLst>
                      <a:gs pos="39000">
                        <a:schemeClr val="accent5">
                          <a:lumMod val="40000"/>
                          <a:lumOff val="60000"/>
                        </a:schemeClr>
                      </a:gs>
                      <a:gs pos="100000">
                        <a:schemeClr val="accent4">
                          <a:lumMod val="100000"/>
                        </a:schemeClr>
                      </a:gs>
                    </a:gsLst>
                    <a:lin ang="27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542"/>
                  </a:p>
                </p:txBody>
              </p:sp>
            </p:grpSp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6BCBD59F-C647-F65B-8EAC-13DE5B465506}"/>
                    </a:ext>
                  </a:extLst>
                </p:cNvPr>
                <p:cNvSpPr txBox="1"/>
                <p:nvPr/>
              </p:nvSpPr>
              <p:spPr>
                <a:xfrm>
                  <a:off x="14007584" y="5059505"/>
                  <a:ext cx="2280264" cy="1919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976" b="1" dirty="0"/>
                    <a:t>Semantic Gate(weights)</a:t>
                  </a:r>
                  <a:endParaRPr lang="zh-CN" altLang="en-US" sz="1976" b="1" dirty="0"/>
                </a:p>
              </p:txBody>
            </p:sp>
          </p:grpSp>
          <p:cxnSp>
            <p:nvCxnSpPr>
              <p:cNvPr id="184" name="直接箭头连接符 183">
                <a:extLst>
                  <a:ext uri="{FF2B5EF4-FFF2-40B4-BE49-F238E27FC236}">
                    <a16:creationId xmlns:a16="http://schemas.microsoft.com/office/drawing/2014/main" id="{ADC15F1D-516C-A2D7-A969-E8A6FD9EBAD1}"/>
                  </a:ext>
                </a:extLst>
              </p:cNvPr>
              <p:cNvCxnSpPr>
                <a:stCxn id="144" idx="3"/>
              </p:cNvCxnSpPr>
              <p:nvPr/>
            </p:nvCxnSpPr>
            <p:spPr>
              <a:xfrm flipV="1">
                <a:off x="15045707" y="2343735"/>
                <a:ext cx="434601" cy="74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6" name="直接箭头连接符 185">
                <a:extLst>
                  <a:ext uri="{FF2B5EF4-FFF2-40B4-BE49-F238E27FC236}">
                    <a16:creationId xmlns:a16="http://schemas.microsoft.com/office/drawing/2014/main" id="{4FADF8A2-4871-E052-C62A-B845C6C2D9F0}"/>
                  </a:ext>
                </a:extLst>
              </p:cNvPr>
              <p:cNvCxnSpPr>
                <a:stCxn id="145" idx="3"/>
              </p:cNvCxnSpPr>
              <p:nvPr/>
            </p:nvCxnSpPr>
            <p:spPr>
              <a:xfrm flipV="1">
                <a:off x="15120267" y="6027508"/>
                <a:ext cx="360040" cy="13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8E409E2A-2383-4901-ABE1-EB782AA68E37}"/>
                  </a:ext>
                </a:extLst>
              </p:cNvPr>
              <p:cNvSpPr/>
              <p:nvPr/>
            </p:nvSpPr>
            <p:spPr>
              <a:xfrm>
                <a:off x="15482944" y="2105266"/>
                <a:ext cx="1592184" cy="553997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976" b="1" dirty="0">
                    <a:solidFill>
                      <a:schemeClr val="tx1"/>
                    </a:solidFill>
                  </a:rPr>
                  <a:t>Visual Gated Attention</a:t>
                </a:r>
                <a:endParaRPr lang="zh-CN" altLang="en-US" sz="1976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矩形: 圆角 189">
                <a:extLst>
                  <a:ext uri="{FF2B5EF4-FFF2-40B4-BE49-F238E27FC236}">
                    <a16:creationId xmlns:a16="http://schemas.microsoft.com/office/drawing/2014/main" id="{6CA24593-616D-30D0-93A4-4D57295BACF1}"/>
                  </a:ext>
                </a:extLst>
              </p:cNvPr>
              <p:cNvSpPr/>
              <p:nvPr/>
            </p:nvSpPr>
            <p:spPr>
              <a:xfrm>
                <a:off x="15480307" y="5794855"/>
                <a:ext cx="1592184" cy="553997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976" b="1" dirty="0">
                    <a:solidFill>
                      <a:schemeClr val="tx1"/>
                    </a:solidFill>
                  </a:rPr>
                  <a:t>Visual Gated Attention</a:t>
                </a:r>
                <a:endParaRPr lang="zh-CN" altLang="en-US" sz="1976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E28D32DE-839E-C594-3342-0F8EA9287ABA}"/>
                  </a:ext>
                </a:extLst>
              </p:cNvPr>
              <p:cNvSpPr txBox="1"/>
              <p:nvPr/>
            </p:nvSpPr>
            <p:spPr>
              <a:xfrm>
                <a:off x="16715385" y="1996529"/>
                <a:ext cx="429115" cy="234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542" dirty="0"/>
                  <a:t>🔥</a:t>
                </a:r>
              </a:p>
            </p:txBody>
          </p:sp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73E2E989-6FCE-F555-8548-1CBACFEEC372}"/>
                  </a:ext>
                </a:extLst>
              </p:cNvPr>
              <p:cNvSpPr txBox="1"/>
              <p:nvPr/>
            </p:nvSpPr>
            <p:spPr>
              <a:xfrm>
                <a:off x="16627486" y="5730224"/>
                <a:ext cx="429115" cy="234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542" dirty="0"/>
                  <a:t>🔥</a:t>
                </a:r>
              </a:p>
            </p:txBody>
          </p:sp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B5813178-DB19-4F1E-2299-51AFC9054E4B}"/>
                  </a:ext>
                </a:extLst>
              </p:cNvPr>
              <p:cNvSpPr/>
              <p:nvPr/>
            </p:nvSpPr>
            <p:spPr>
              <a:xfrm>
                <a:off x="17454237" y="2131861"/>
                <a:ext cx="1950477" cy="468000"/>
              </a:xfrm>
              <a:prstGeom prst="rect">
                <a:avLst/>
              </a:prstGeom>
              <a:solidFill>
                <a:schemeClr val="bg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542" dirty="0">
                    <a:solidFill>
                      <a:schemeClr val="tx1"/>
                    </a:solidFill>
                  </a:rPr>
                  <a:t>………</a:t>
                </a:r>
                <a:endParaRPr lang="zh-CN" altLang="en-US" sz="2542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F454252C-C76F-CEE3-474E-7A27B52A544D}"/>
                  </a:ext>
                </a:extLst>
              </p:cNvPr>
              <p:cNvSpPr/>
              <p:nvPr/>
            </p:nvSpPr>
            <p:spPr>
              <a:xfrm>
                <a:off x="17428915" y="5836058"/>
                <a:ext cx="1950477" cy="468000"/>
              </a:xfrm>
              <a:prstGeom prst="rect">
                <a:avLst/>
              </a:prstGeom>
              <a:solidFill>
                <a:schemeClr val="bg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542" dirty="0">
                    <a:solidFill>
                      <a:schemeClr val="tx1"/>
                    </a:solidFill>
                  </a:rPr>
                  <a:t>………</a:t>
                </a:r>
                <a:endParaRPr lang="zh-CN" altLang="en-US" sz="2542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B5090B2D-D9EA-2684-EFF3-9C7FE4D96EE7}"/>
                  </a:ext>
                </a:extLst>
              </p:cNvPr>
              <p:cNvSpPr txBox="1"/>
              <p:nvPr/>
            </p:nvSpPr>
            <p:spPr>
              <a:xfrm>
                <a:off x="17568539" y="6435026"/>
                <a:ext cx="2376264" cy="170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94" b="1" dirty="0"/>
                  <a:t>Visual Attention(weights)</a:t>
                </a:r>
                <a:endParaRPr lang="zh-CN" altLang="en-US" sz="1694" b="1" dirty="0"/>
              </a:p>
            </p:txBody>
          </p:sp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D733FFEF-8022-369B-9074-25E7BB3C47EF}"/>
                  </a:ext>
                </a:extLst>
              </p:cNvPr>
              <p:cNvSpPr txBox="1"/>
              <p:nvPr/>
            </p:nvSpPr>
            <p:spPr>
              <a:xfrm>
                <a:off x="17384130" y="1829349"/>
                <a:ext cx="2376264" cy="170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94" b="1" dirty="0"/>
                  <a:t>Visual Attention(weights)</a:t>
                </a:r>
                <a:endParaRPr lang="zh-CN" altLang="en-US" sz="1694" b="1" dirty="0"/>
              </a:p>
            </p:txBody>
          </p:sp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68DB3922-020C-D4D7-F0D8-8ECE999E6FFF}"/>
                  </a:ext>
                </a:extLst>
              </p:cNvPr>
              <p:cNvSpPr/>
              <p:nvPr/>
            </p:nvSpPr>
            <p:spPr>
              <a:xfrm>
                <a:off x="17512366" y="2243771"/>
                <a:ext cx="288032" cy="288000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B3A723A7-B4E1-BB08-46A5-71C10464C17B}"/>
                  </a:ext>
                </a:extLst>
              </p:cNvPr>
              <p:cNvSpPr/>
              <p:nvPr/>
            </p:nvSpPr>
            <p:spPr>
              <a:xfrm>
                <a:off x="17810294" y="2246391"/>
                <a:ext cx="288032" cy="288000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4E646622-0CB1-87F7-C4DB-4E07D3B84745}"/>
                  </a:ext>
                </a:extLst>
              </p:cNvPr>
              <p:cNvSpPr/>
              <p:nvPr/>
            </p:nvSpPr>
            <p:spPr>
              <a:xfrm>
                <a:off x="18815702" y="2250544"/>
                <a:ext cx="288032" cy="288000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CB62B93D-FA9F-0ACB-E437-199C4167D60E}"/>
                  </a:ext>
                </a:extLst>
              </p:cNvPr>
              <p:cNvSpPr/>
              <p:nvPr/>
            </p:nvSpPr>
            <p:spPr>
              <a:xfrm>
                <a:off x="17444805" y="5926058"/>
                <a:ext cx="288032" cy="288000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4D764D8B-34EF-A84C-3582-B59D63E2262C}"/>
                  </a:ext>
                </a:extLst>
              </p:cNvPr>
              <p:cNvSpPr/>
              <p:nvPr/>
            </p:nvSpPr>
            <p:spPr>
              <a:xfrm>
                <a:off x="17800398" y="5941511"/>
                <a:ext cx="288032" cy="288000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9DEC4C58-3BC1-BB9F-7155-0A20839C3925}"/>
                  </a:ext>
                </a:extLst>
              </p:cNvPr>
              <p:cNvSpPr/>
              <p:nvPr/>
            </p:nvSpPr>
            <p:spPr>
              <a:xfrm>
                <a:off x="18735921" y="5941511"/>
                <a:ext cx="288032" cy="288000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cxnSp>
            <p:nvCxnSpPr>
              <p:cNvPr id="218" name="连接符: 曲线 217">
                <a:extLst>
                  <a:ext uri="{FF2B5EF4-FFF2-40B4-BE49-F238E27FC236}">
                    <a16:creationId xmlns:a16="http://schemas.microsoft.com/office/drawing/2014/main" id="{40AAECED-5DB6-E88D-52C5-4806A886EA3F}"/>
                  </a:ext>
                </a:extLst>
              </p:cNvPr>
              <p:cNvCxnSpPr>
                <a:stCxn id="188" idx="3"/>
              </p:cNvCxnSpPr>
              <p:nvPr/>
            </p:nvCxnSpPr>
            <p:spPr>
              <a:xfrm flipV="1">
                <a:off x="17075129" y="2131862"/>
                <a:ext cx="369677" cy="250403"/>
              </a:xfrm>
              <a:prstGeom prst="curvedConnector3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0" name="连接符: 曲线 219">
                <a:extLst>
                  <a:ext uri="{FF2B5EF4-FFF2-40B4-BE49-F238E27FC236}">
                    <a16:creationId xmlns:a16="http://schemas.microsoft.com/office/drawing/2014/main" id="{32E90912-588C-8E89-4441-6756A0729695}"/>
                  </a:ext>
                </a:extLst>
              </p:cNvPr>
              <p:cNvCxnSpPr>
                <a:stCxn id="190" idx="3"/>
              </p:cNvCxnSpPr>
              <p:nvPr/>
            </p:nvCxnSpPr>
            <p:spPr>
              <a:xfrm>
                <a:off x="17072492" y="6071853"/>
                <a:ext cx="394821" cy="264134"/>
              </a:xfrm>
              <a:prstGeom prst="curvedConnector3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21" name="组合 220">
                <a:extLst>
                  <a:ext uri="{FF2B5EF4-FFF2-40B4-BE49-F238E27FC236}">
                    <a16:creationId xmlns:a16="http://schemas.microsoft.com/office/drawing/2014/main" id="{8349D18E-CE02-5E09-AB1F-DAC49F847E7C}"/>
                  </a:ext>
                </a:extLst>
              </p:cNvPr>
              <p:cNvGrpSpPr/>
              <p:nvPr/>
            </p:nvGrpSpPr>
            <p:grpSpPr>
              <a:xfrm>
                <a:off x="20160827" y="2644903"/>
                <a:ext cx="478800" cy="478800"/>
                <a:chOff x="9575626" y="431329"/>
                <a:chExt cx="478800" cy="478800"/>
              </a:xfrm>
            </p:grpSpPr>
            <p:sp>
              <p:nvSpPr>
                <p:cNvPr id="222" name="椭圆 221">
                  <a:extLst>
                    <a:ext uri="{FF2B5EF4-FFF2-40B4-BE49-F238E27FC236}">
                      <a16:creationId xmlns:a16="http://schemas.microsoft.com/office/drawing/2014/main" id="{71644C4F-BF92-B28A-00B1-3C8EB59AEABB}"/>
                    </a:ext>
                  </a:extLst>
                </p:cNvPr>
                <p:cNvSpPr/>
                <p:nvPr/>
              </p:nvSpPr>
              <p:spPr>
                <a:xfrm>
                  <a:off x="9575626" y="431329"/>
                  <a:ext cx="478800" cy="4788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542"/>
                </a:p>
              </p:txBody>
            </p:sp>
            <p:cxnSp>
              <p:nvCxnSpPr>
                <p:cNvPr id="223" name="直接连接符 222">
                  <a:extLst>
                    <a:ext uri="{FF2B5EF4-FFF2-40B4-BE49-F238E27FC236}">
                      <a16:creationId xmlns:a16="http://schemas.microsoft.com/office/drawing/2014/main" id="{46300246-7E54-B2FE-79AB-E7BB314A1B52}"/>
                    </a:ext>
                  </a:extLst>
                </p:cNvPr>
                <p:cNvCxnSpPr>
                  <a:stCxn id="222" idx="2"/>
                  <a:endCxn id="222" idx="6"/>
                </p:cNvCxnSpPr>
                <p:nvPr/>
              </p:nvCxnSpPr>
              <p:spPr>
                <a:xfrm>
                  <a:off x="9575626" y="670729"/>
                  <a:ext cx="47880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直接连接符 223">
                  <a:extLst>
                    <a:ext uri="{FF2B5EF4-FFF2-40B4-BE49-F238E27FC236}">
                      <a16:creationId xmlns:a16="http://schemas.microsoft.com/office/drawing/2014/main" id="{8FBEFE7E-BBFE-EEA0-AA62-B74A59157D1E}"/>
                    </a:ext>
                  </a:extLst>
                </p:cNvPr>
                <p:cNvCxnSpPr>
                  <a:stCxn id="222" idx="0"/>
                  <a:endCxn id="222" idx="4"/>
                </p:cNvCxnSpPr>
                <p:nvPr/>
              </p:nvCxnSpPr>
              <p:spPr>
                <a:xfrm>
                  <a:off x="9815026" y="431329"/>
                  <a:ext cx="0" cy="478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4DBE466F-6DFE-F445-DF92-5DD21DFBD8E5}"/>
                  </a:ext>
                </a:extLst>
              </p:cNvPr>
              <p:cNvSpPr txBox="1"/>
              <p:nvPr/>
            </p:nvSpPr>
            <p:spPr>
              <a:xfrm>
                <a:off x="20160827" y="5784838"/>
                <a:ext cx="496986" cy="234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542" dirty="0"/>
                  <a:t>🌡️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9" name="文本框 228">
                    <a:extLst>
                      <a:ext uri="{FF2B5EF4-FFF2-40B4-BE49-F238E27FC236}">
                        <a16:creationId xmlns:a16="http://schemas.microsoft.com/office/drawing/2014/main" id="{E0DBFCCE-6217-70F9-67B1-C2FC9BF73796}"/>
                      </a:ext>
                    </a:extLst>
                  </p:cNvPr>
                  <p:cNvSpPr txBox="1"/>
                  <p:nvPr/>
                </p:nvSpPr>
                <p:spPr>
                  <a:xfrm>
                    <a:off x="20599120" y="5822558"/>
                    <a:ext cx="157104" cy="1894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542" i="1">
                              <a:latin typeface="Cambria Math" panose="02040503050406030204" pitchFamily="18" charset="0"/>
                            </a:rPr>
                            <m:t>𝜏</m:t>
                          </m:r>
                        </m:oMath>
                      </m:oMathPara>
                    </a14:m>
                    <a:endParaRPr lang="zh-CN" altLang="en-US" sz="2542" dirty="0"/>
                  </a:p>
                </p:txBody>
              </p:sp>
            </mc:Choice>
            <mc:Fallback xmlns="">
              <p:sp>
                <p:nvSpPr>
                  <p:cNvPr id="229" name="文本框 228">
                    <a:extLst>
                      <a:ext uri="{FF2B5EF4-FFF2-40B4-BE49-F238E27FC236}">
                        <a16:creationId xmlns:a16="http://schemas.microsoft.com/office/drawing/2014/main" id="{E0DBFCCE-6217-70F9-67B1-C2FC9BF737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99120" y="5822558"/>
                    <a:ext cx="157104" cy="189440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1622" r="-135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0" name="文本框 229">
                    <a:extLst>
                      <a:ext uri="{FF2B5EF4-FFF2-40B4-BE49-F238E27FC236}">
                        <a16:creationId xmlns:a16="http://schemas.microsoft.com/office/drawing/2014/main" id="{3B88C9B2-9A92-1738-FE91-5141BE8D454E}"/>
                      </a:ext>
                    </a:extLst>
                  </p:cNvPr>
                  <p:cNvSpPr txBox="1"/>
                  <p:nvPr/>
                </p:nvSpPr>
                <p:spPr>
                  <a:xfrm>
                    <a:off x="20578264" y="2271951"/>
                    <a:ext cx="157104" cy="1894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542" i="1">
                              <a:latin typeface="Cambria Math" panose="02040503050406030204" pitchFamily="18" charset="0"/>
                            </a:rPr>
                            <m:t>𝜏</m:t>
                          </m:r>
                        </m:oMath>
                      </m:oMathPara>
                    </a14:m>
                    <a:endParaRPr lang="zh-CN" altLang="en-US" sz="2542" dirty="0"/>
                  </a:p>
                </p:txBody>
              </p:sp>
            </mc:Choice>
            <mc:Fallback xmlns="">
              <p:sp>
                <p:nvSpPr>
                  <p:cNvPr id="230" name="文本框 229">
                    <a:extLst>
                      <a:ext uri="{FF2B5EF4-FFF2-40B4-BE49-F238E27FC236}">
                        <a16:creationId xmlns:a16="http://schemas.microsoft.com/office/drawing/2014/main" id="{3B88C9B2-9A92-1738-FE91-5141BE8D45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78264" y="2271951"/>
                    <a:ext cx="157104" cy="189440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21622" r="-135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2" name="连接符: 曲线 231">
                <a:extLst>
                  <a:ext uri="{FF2B5EF4-FFF2-40B4-BE49-F238E27FC236}">
                    <a16:creationId xmlns:a16="http://schemas.microsoft.com/office/drawing/2014/main" id="{CA8DA978-898C-D646-C80C-65458D11E739}"/>
                  </a:ext>
                </a:extLst>
              </p:cNvPr>
              <p:cNvCxnSpPr>
                <a:stCxn id="148" idx="3"/>
                <a:endCxn id="222" idx="2"/>
              </p:cNvCxnSpPr>
              <p:nvPr/>
            </p:nvCxnSpPr>
            <p:spPr>
              <a:xfrm flipV="1">
                <a:off x="19386539" y="2884304"/>
                <a:ext cx="774288" cy="585895"/>
              </a:xfrm>
              <a:prstGeom prst="curvedConnector3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4" name="连接符: 曲线 233">
                <a:extLst>
                  <a:ext uri="{FF2B5EF4-FFF2-40B4-BE49-F238E27FC236}">
                    <a16:creationId xmlns:a16="http://schemas.microsoft.com/office/drawing/2014/main" id="{7B248989-C4DC-A9BE-2726-E6DED65111E0}"/>
                  </a:ext>
                </a:extLst>
              </p:cNvPr>
              <p:cNvCxnSpPr>
                <a:stCxn id="194" idx="3"/>
                <a:endCxn id="222" idx="2"/>
              </p:cNvCxnSpPr>
              <p:nvPr/>
            </p:nvCxnSpPr>
            <p:spPr>
              <a:xfrm>
                <a:off x="19404713" y="2365861"/>
                <a:ext cx="756114" cy="518442"/>
              </a:xfrm>
              <a:prstGeom prst="curvedConnector3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6" name="连接符: 曲线 235">
                <a:extLst>
                  <a:ext uri="{FF2B5EF4-FFF2-40B4-BE49-F238E27FC236}">
                    <a16:creationId xmlns:a16="http://schemas.microsoft.com/office/drawing/2014/main" id="{299008EC-34D3-3F59-2FB6-5D0E5A42AAE7}"/>
                  </a:ext>
                </a:extLst>
              </p:cNvPr>
              <p:cNvCxnSpPr>
                <a:stCxn id="150" idx="3"/>
                <a:endCxn id="59" idx="2"/>
              </p:cNvCxnSpPr>
              <p:nvPr/>
            </p:nvCxnSpPr>
            <p:spPr>
              <a:xfrm>
                <a:off x="19383161" y="4716168"/>
                <a:ext cx="777667" cy="791118"/>
              </a:xfrm>
              <a:prstGeom prst="curvedConnector3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8" name="连接符: 曲线 237">
                <a:extLst>
                  <a:ext uri="{FF2B5EF4-FFF2-40B4-BE49-F238E27FC236}">
                    <a16:creationId xmlns:a16="http://schemas.microsoft.com/office/drawing/2014/main" id="{D2BF525B-8C4B-615D-BD45-5970F4EC898E}"/>
                  </a:ext>
                </a:extLst>
              </p:cNvPr>
              <p:cNvCxnSpPr>
                <a:stCxn id="195" idx="3"/>
                <a:endCxn id="59" idx="2"/>
              </p:cNvCxnSpPr>
              <p:nvPr/>
            </p:nvCxnSpPr>
            <p:spPr>
              <a:xfrm flipV="1">
                <a:off x="19379391" y="5507286"/>
                <a:ext cx="781436" cy="562772"/>
              </a:xfrm>
              <a:prstGeom prst="curvedConnector3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559B51C7-53FC-F312-B44C-7B499F632A33}"/>
                  </a:ext>
                </a:extLst>
              </p:cNvPr>
              <p:cNvSpPr/>
              <p:nvPr/>
            </p:nvSpPr>
            <p:spPr>
              <a:xfrm>
                <a:off x="21136066" y="2659263"/>
                <a:ext cx="1257010" cy="468000"/>
              </a:xfrm>
              <a:prstGeom prst="rect">
                <a:avLst/>
              </a:prstGeom>
              <a:solidFill>
                <a:schemeClr val="bg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542" dirty="0">
                    <a:solidFill>
                      <a:schemeClr val="tx1"/>
                    </a:solidFill>
                  </a:rPr>
                  <a:t>…</a:t>
                </a:r>
                <a:endParaRPr lang="zh-CN" altLang="en-US" sz="2542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0" name="矩形 239">
                <a:extLst>
                  <a:ext uri="{FF2B5EF4-FFF2-40B4-BE49-F238E27FC236}">
                    <a16:creationId xmlns:a16="http://schemas.microsoft.com/office/drawing/2014/main" id="{819D2ADC-FCEC-24E5-8D2E-109A76ADC0FA}"/>
                  </a:ext>
                </a:extLst>
              </p:cNvPr>
              <p:cNvSpPr/>
              <p:nvPr/>
            </p:nvSpPr>
            <p:spPr>
              <a:xfrm>
                <a:off x="21157865" y="5285126"/>
                <a:ext cx="1235212" cy="468000"/>
              </a:xfrm>
              <a:prstGeom prst="rect">
                <a:avLst/>
              </a:prstGeom>
              <a:solidFill>
                <a:schemeClr val="bg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542" dirty="0">
                    <a:solidFill>
                      <a:schemeClr val="tx1"/>
                    </a:solidFill>
                  </a:rPr>
                  <a:t>…</a:t>
                </a:r>
                <a:endParaRPr lang="zh-CN" altLang="en-US" sz="2542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1" name="箭头: 五边形 240">
                <a:extLst>
                  <a:ext uri="{FF2B5EF4-FFF2-40B4-BE49-F238E27FC236}">
                    <a16:creationId xmlns:a16="http://schemas.microsoft.com/office/drawing/2014/main" id="{EF4C6370-0BCF-AFDB-6C54-C5D6C46E7F24}"/>
                  </a:ext>
                </a:extLst>
              </p:cNvPr>
              <p:cNvSpPr/>
              <p:nvPr/>
            </p:nvSpPr>
            <p:spPr>
              <a:xfrm>
                <a:off x="20714083" y="5425641"/>
                <a:ext cx="360040" cy="233962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242" name="箭头: 五边形 241">
                <a:extLst>
                  <a:ext uri="{FF2B5EF4-FFF2-40B4-BE49-F238E27FC236}">
                    <a16:creationId xmlns:a16="http://schemas.microsoft.com/office/drawing/2014/main" id="{5D1BC57C-A47A-0ACD-6CB1-69183FA218E9}"/>
                  </a:ext>
                </a:extLst>
              </p:cNvPr>
              <p:cNvSpPr/>
              <p:nvPr/>
            </p:nvSpPr>
            <p:spPr>
              <a:xfrm>
                <a:off x="20755796" y="2799301"/>
                <a:ext cx="360040" cy="233962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D5C5CC13-0D52-7B0B-152F-5FCCF2C082E5}"/>
                  </a:ext>
                </a:extLst>
              </p:cNvPr>
              <p:cNvSpPr/>
              <p:nvPr/>
            </p:nvSpPr>
            <p:spPr>
              <a:xfrm>
                <a:off x="21168939" y="2787992"/>
                <a:ext cx="288032" cy="2880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247" name="矩形 246">
                <a:extLst>
                  <a:ext uri="{FF2B5EF4-FFF2-40B4-BE49-F238E27FC236}">
                    <a16:creationId xmlns:a16="http://schemas.microsoft.com/office/drawing/2014/main" id="{170D1ECD-BAF7-F94A-7105-76137CCF10BF}"/>
                  </a:ext>
                </a:extLst>
              </p:cNvPr>
              <p:cNvSpPr/>
              <p:nvPr/>
            </p:nvSpPr>
            <p:spPr>
              <a:xfrm>
                <a:off x="21947059" y="2772282"/>
                <a:ext cx="288032" cy="2880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248" name="矩形 247">
                <a:extLst>
                  <a:ext uri="{FF2B5EF4-FFF2-40B4-BE49-F238E27FC236}">
                    <a16:creationId xmlns:a16="http://schemas.microsoft.com/office/drawing/2014/main" id="{0B7FDBE9-58B0-7617-D31A-9448627AC333}"/>
                  </a:ext>
                </a:extLst>
              </p:cNvPr>
              <p:cNvSpPr/>
              <p:nvPr/>
            </p:nvSpPr>
            <p:spPr>
              <a:xfrm>
                <a:off x="21219514" y="5379308"/>
                <a:ext cx="288032" cy="2880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  <p:sp>
            <p:nvSpPr>
              <p:cNvPr id="249" name="矩形 248">
                <a:extLst>
                  <a:ext uri="{FF2B5EF4-FFF2-40B4-BE49-F238E27FC236}">
                    <a16:creationId xmlns:a16="http://schemas.microsoft.com/office/drawing/2014/main" id="{647F6955-3427-F3EB-869D-989A655FC1CE}"/>
                  </a:ext>
                </a:extLst>
              </p:cNvPr>
              <p:cNvSpPr/>
              <p:nvPr/>
            </p:nvSpPr>
            <p:spPr>
              <a:xfrm>
                <a:off x="21927144" y="5379467"/>
                <a:ext cx="288032" cy="2880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542"/>
              </a:p>
            </p:txBody>
          </p:sp>
        </p:grpSp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186E3196-CF29-0B35-515D-8FC207589C9A}"/>
                </a:ext>
              </a:extLst>
            </p:cNvPr>
            <p:cNvSpPr txBox="1"/>
            <p:nvPr/>
          </p:nvSpPr>
          <p:spPr>
            <a:xfrm>
              <a:off x="33697585" y="9652179"/>
              <a:ext cx="3354704" cy="353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94" b="1" dirty="0"/>
                <a:t>Spatial weights</a:t>
              </a:r>
              <a:endParaRPr lang="zh-CN" altLang="en-US" sz="1694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0087C9EC-BA3A-F9CF-76AA-7E5BCEB3479A}"/>
                    </a:ext>
                  </a:extLst>
                </p:cNvPr>
                <p:cNvSpPr txBox="1"/>
                <p:nvPr/>
              </p:nvSpPr>
              <p:spPr>
                <a:xfrm>
                  <a:off x="35560168" y="5008776"/>
                  <a:ext cx="1423207" cy="6951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4517" i="1">
                            <a:latin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zh-CN" altLang="en-US" sz="4517" dirty="0"/>
                </a:p>
              </p:txBody>
            </p:sp>
          </mc:Choice>
          <mc:Fallback xmlns="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0087C9EC-BA3A-F9CF-76AA-7E5BCEB347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60168" y="5008776"/>
                  <a:ext cx="1423207" cy="69512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8BA7C22A-0134-FF60-1CAA-DFFF797C7989}"/>
                    </a:ext>
                  </a:extLst>
                </p:cNvPr>
                <p:cNvSpPr txBox="1"/>
                <p:nvPr/>
              </p:nvSpPr>
              <p:spPr>
                <a:xfrm>
                  <a:off x="35560168" y="10336690"/>
                  <a:ext cx="1423207" cy="6951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4517" i="1">
                            <a:latin typeface="Cambria Math" panose="02040503050406030204" pitchFamily="18" charset="0"/>
                          </a:rPr>
                          <m:t>∑</m:t>
                        </m:r>
                      </m:oMath>
                    </m:oMathPara>
                  </a14:m>
                  <a:endParaRPr lang="zh-CN" altLang="en-US" sz="4517" dirty="0"/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8BA7C22A-0134-FF60-1CAA-DFFF797C79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60168" y="10336690"/>
                  <a:ext cx="1423207" cy="69512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D56E6C7B-B7B5-E280-FBAD-651E806378D4}"/>
                </a:ext>
              </a:extLst>
            </p:cNvPr>
            <p:cNvSpPr/>
            <p:nvPr/>
          </p:nvSpPr>
          <p:spPr>
            <a:xfrm>
              <a:off x="36612656" y="4886539"/>
              <a:ext cx="675949" cy="9887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42"/>
            </a:p>
          </p:txBody>
        </p:sp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0A51F90F-578F-06C4-FB14-8543D205FDEE}"/>
                </a:ext>
              </a:extLst>
            </p:cNvPr>
            <p:cNvSpPr/>
            <p:nvPr/>
          </p:nvSpPr>
          <p:spPr>
            <a:xfrm>
              <a:off x="36645401" y="10043167"/>
              <a:ext cx="675949" cy="9887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42"/>
            </a:p>
          </p:txBody>
        </p:sp>
        <p:cxnSp>
          <p:nvCxnSpPr>
            <p:cNvPr id="258" name="连接符: 曲线 257">
              <a:extLst>
                <a:ext uri="{FF2B5EF4-FFF2-40B4-BE49-F238E27FC236}">
                  <a16:creationId xmlns:a16="http://schemas.microsoft.com/office/drawing/2014/main" id="{2F7718ED-940E-824D-7C1A-9893E7D04137}"/>
                </a:ext>
              </a:extLst>
            </p:cNvPr>
            <p:cNvCxnSpPr>
              <a:stCxn id="159" idx="2"/>
              <a:endCxn id="256" idx="4"/>
            </p:cNvCxnSpPr>
            <p:nvPr/>
          </p:nvCxnSpPr>
          <p:spPr>
            <a:xfrm rot="5400000" flipH="1" flipV="1">
              <a:off x="29895952" y="5631745"/>
              <a:ext cx="1687270" cy="12487577"/>
            </a:xfrm>
            <a:prstGeom prst="curvedConnector3">
              <a:avLst>
                <a:gd name="adj1" fmla="val -13549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5" name="连接符: 曲线 264">
              <a:extLst>
                <a:ext uri="{FF2B5EF4-FFF2-40B4-BE49-F238E27FC236}">
                  <a16:creationId xmlns:a16="http://schemas.microsoft.com/office/drawing/2014/main" id="{3469B7A1-B509-E9A1-A6C6-ABFEF1415144}"/>
                </a:ext>
              </a:extLst>
            </p:cNvPr>
            <p:cNvCxnSpPr>
              <a:stCxn id="177" idx="0"/>
              <a:endCxn id="255" idx="0"/>
            </p:cNvCxnSpPr>
            <p:nvPr/>
          </p:nvCxnSpPr>
          <p:spPr>
            <a:xfrm rot="16200000" flipH="1">
              <a:off x="29788465" y="-2275627"/>
              <a:ext cx="1825332" cy="12499000"/>
            </a:xfrm>
            <a:prstGeom prst="curvedConnector3">
              <a:avLst>
                <a:gd name="adj1" fmla="val -1252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00C6E689-0A8E-05EF-2772-7AF2B3665C37}"/>
                </a:ext>
              </a:extLst>
            </p:cNvPr>
            <p:cNvCxnSpPr>
              <a:stCxn id="255" idx="2"/>
              <a:endCxn id="255" idx="6"/>
            </p:cNvCxnSpPr>
            <p:nvPr/>
          </p:nvCxnSpPr>
          <p:spPr>
            <a:xfrm>
              <a:off x="36612656" y="5380904"/>
              <a:ext cx="67594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587B7200-FA0E-B75F-16EB-E472C6CB461A}"/>
                </a:ext>
              </a:extLst>
            </p:cNvPr>
            <p:cNvCxnSpPr>
              <a:stCxn id="255" idx="0"/>
              <a:endCxn id="255" idx="4"/>
            </p:cNvCxnSpPr>
            <p:nvPr/>
          </p:nvCxnSpPr>
          <p:spPr>
            <a:xfrm>
              <a:off x="36950630" y="4886539"/>
              <a:ext cx="0" cy="98873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484150C5-4073-3F06-C21F-37BE56E7C14A}"/>
                </a:ext>
              </a:extLst>
            </p:cNvPr>
            <p:cNvCxnSpPr>
              <a:stCxn id="256" idx="2"/>
              <a:endCxn id="256" idx="6"/>
            </p:cNvCxnSpPr>
            <p:nvPr/>
          </p:nvCxnSpPr>
          <p:spPr>
            <a:xfrm>
              <a:off x="36645401" y="10537532"/>
              <a:ext cx="67594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06F20439-729D-6D5E-18E3-90968C3E6B99}"/>
                </a:ext>
              </a:extLst>
            </p:cNvPr>
            <p:cNvCxnSpPr>
              <a:stCxn id="256" idx="0"/>
              <a:endCxn id="256" idx="4"/>
            </p:cNvCxnSpPr>
            <p:nvPr/>
          </p:nvCxnSpPr>
          <p:spPr>
            <a:xfrm>
              <a:off x="36983375" y="10043167"/>
              <a:ext cx="0" cy="98873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8AB120ED-269F-A599-EACB-4EDD8400FB04}"/>
                </a:ext>
              </a:extLst>
            </p:cNvPr>
            <p:cNvCxnSpPr>
              <a:stCxn id="253" idx="1"/>
            </p:cNvCxnSpPr>
            <p:nvPr/>
          </p:nvCxnSpPr>
          <p:spPr>
            <a:xfrm>
              <a:off x="35560168" y="5356340"/>
              <a:ext cx="373887" cy="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075DD4EB-B942-3FA6-D5E0-4987B43697C8}"/>
                </a:ext>
              </a:extLst>
            </p:cNvPr>
            <p:cNvCxnSpPr>
              <a:stCxn id="254" idx="1"/>
            </p:cNvCxnSpPr>
            <p:nvPr/>
          </p:nvCxnSpPr>
          <p:spPr>
            <a:xfrm>
              <a:off x="35560168" y="10684254"/>
              <a:ext cx="475544" cy="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椭圆 277">
                  <a:extLst>
                    <a:ext uri="{FF2B5EF4-FFF2-40B4-BE49-F238E27FC236}">
                      <a16:creationId xmlns:a16="http://schemas.microsoft.com/office/drawing/2014/main" id="{9692CD19-CE9B-7931-F30C-A417E11E9AC5}"/>
                    </a:ext>
                  </a:extLst>
                </p:cNvPr>
                <p:cNvSpPr/>
                <p:nvPr/>
              </p:nvSpPr>
              <p:spPr>
                <a:xfrm>
                  <a:off x="37865549" y="4886539"/>
                  <a:ext cx="675949" cy="99114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2542"/>
                          <m:t>ots</m:t>
                        </m:r>
                      </m:oMath>
                    </m:oMathPara>
                  </a14:m>
                  <a:endParaRPr lang="zh-CN" altLang="en-US" sz="2542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8" name="椭圆 277">
                  <a:extLst>
                    <a:ext uri="{FF2B5EF4-FFF2-40B4-BE49-F238E27FC236}">
                      <a16:creationId xmlns:a16="http://schemas.microsoft.com/office/drawing/2014/main" id="{9692CD19-CE9B-7931-F30C-A417E11E9A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65549" y="4886539"/>
                  <a:ext cx="675949" cy="991141"/>
                </a:xfrm>
                <a:prstGeom prst="ellipse">
                  <a:avLst/>
                </a:prstGeom>
                <a:blipFill>
                  <a:blip r:embed="rId33"/>
                  <a:stretch>
                    <a:fillRect l="-8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C8B621EA-55A1-2DC2-F64A-62922FEC1625}"/>
                </a:ext>
              </a:extLst>
            </p:cNvPr>
            <p:cNvCxnSpPr>
              <a:stCxn id="278" idx="1"/>
              <a:endCxn id="278" idx="5"/>
            </p:cNvCxnSpPr>
            <p:nvPr/>
          </p:nvCxnSpPr>
          <p:spPr>
            <a:xfrm>
              <a:off x="37964542" y="5031689"/>
              <a:ext cx="477967" cy="7008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74AD1C41-04D7-CC3A-D7F3-557C40B2B73D}"/>
                </a:ext>
              </a:extLst>
            </p:cNvPr>
            <p:cNvCxnSpPr>
              <a:stCxn id="278" idx="3"/>
              <a:endCxn id="278" idx="7"/>
            </p:cNvCxnSpPr>
            <p:nvPr/>
          </p:nvCxnSpPr>
          <p:spPr>
            <a:xfrm flipV="1">
              <a:off x="37964542" y="5031689"/>
              <a:ext cx="477967" cy="7008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椭圆 282">
                  <a:extLst>
                    <a:ext uri="{FF2B5EF4-FFF2-40B4-BE49-F238E27FC236}">
                      <a16:creationId xmlns:a16="http://schemas.microsoft.com/office/drawing/2014/main" id="{5491415D-A57C-AF18-B062-8C52FAD0A966}"/>
                    </a:ext>
                  </a:extLst>
                </p:cNvPr>
                <p:cNvSpPr/>
                <p:nvPr/>
              </p:nvSpPr>
              <p:spPr>
                <a:xfrm>
                  <a:off x="37922907" y="10040757"/>
                  <a:ext cx="675949" cy="99114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2542"/>
                          <m:t>ots</m:t>
                        </m:r>
                      </m:oMath>
                    </m:oMathPara>
                  </a14:m>
                  <a:endParaRPr lang="zh-CN" altLang="en-US" sz="2542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3" name="椭圆 282">
                  <a:extLst>
                    <a:ext uri="{FF2B5EF4-FFF2-40B4-BE49-F238E27FC236}">
                      <a16:creationId xmlns:a16="http://schemas.microsoft.com/office/drawing/2014/main" id="{5491415D-A57C-AF18-B062-8C52FAD0A9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22907" y="10040757"/>
                  <a:ext cx="675949" cy="991141"/>
                </a:xfrm>
                <a:prstGeom prst="ellipse">
                  <a:avLst/>
                </a:prstGeom>
                <a:blipFill>
                  <a:blip r:embed="rId34"/>
                  <a:stretch>
                    <a:fillRect l="-8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25331B61-53EB-2F82-C4D8-D1CD98675795}"/>
                </a:ext>
              </a:extLst>
            </p:cNvPr>
            <p:cNvCxnSpPr>
              <a:stCxn id="283" idx="1"/>
              <a:endCxn id="283" idx="5"/>
            </p:cNvCxnSpPr>
            <p:nvPr/>
          </p:nvCxnSpPr>
          <p:spPr>
            <a:xfrm>
              <a:off x="38021898" y="10185907"/>
              <a:ext cx="477967" cy="7008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62A7950E-219C-E21C-DE8D-2FF621FD7B06}"/>
                </a:ext>
              </a:extLst>
            </p:cNvPr>
            <p:cNvCxnSpPr>
              <a:stCxn id="283" idx="3"/>
              <a:endCxn id="283" idx="7"/>
            </p:cNvCxnSpPr>
            <p:nvPr/>
          </p:nvCxnSpPr>
          <p:spPr>
            <a:xfrm flipV="1">
              <a:off x="38021898" y="10185907"/>
              <a:ext cx="477967" cy="7008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连接符: 曲线 288">
              <a:extLst>
                <a:ext uri="{FF2B5EF4-FFF2-40B4-BE49-F238E27FC236}">
                  <a16:creationId xmlns:a16="http://schemas.microsoft.com/office/drawing/2014/main" id="{092875E3-A082-3843-0EAB-08D85624692F}"/>
                </a:ext>
              </a:extLst>
            </p:cNvPr>
            <p:cNvCxnSpPr>
              <a:cxnSpLocks/>
              <a:endCxn id="283" idx="1"/>
            </p:cNvCxnSpPr>
            <p:nvPr/>
          </p:nvCxnSpPr>
          <p:spPr>
            <a:xfrm>
              <a:off x="18143959" y="8663988"/>
              <a:ext cx="19877940" cy="1521919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连接符: 曲线 297">
              <a:extLst>
                <a:ext uri="{FF2B5EF4-FFF2-40B4-BE49-F238E27FC236}">
                  <a16:creationId xmlns:a16="http://schemas.microsoft.com/office/drawing/2014/main" id="{3FFBBAA4-ED65-040E-A43C-2F77A7AA5A0C}"/>
                </a:ext>
              </a:extLst>
            </p:cNvPr>
            <p:cNvCxnSpPr>
              <a:stCxn id="127" idx="2"/>
              <a:endCxn id="278" idx="4"/>
            </p:cNvCxnSpPr>
            <p:nvPr/>
          </p:nvCxnSpPr>
          <p:spPr>
            <a:xfrm rot="5400000" flipH="1" flipV="1">
              <a:off x="26903924" y="-3714880"/>
              <a:ext cx="1707040" cy="20892160"/>
            </a:xfrm>
            <a:prstGeom prst="curvedConnector3">
              <a:avLst>
                <a:gd name="adj1" fmla="val -13392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箭头连接符 299">
              <a:extLst>
                <a:ext uri="{FF2B5EF4-FFF2-40B4-BE49-F238E27FC236}">
                  <a16:creationId xmlns:a16="http://schemas.microsoft.com/office/drawing/2014/main" id="{A0BC9B7B-33E8-9C30-7806-7B3640A17CAE}"/>
                </a:ext>
              </a:extLst>
            </p:cNvPr>
            <p:cNvCxnSpPr>
              <a:stCxn id="256" idx="6"/>
              <a:endCxn id="283" idx="2"/>
            </p:cNvCxnSpPr>
            <p:nvPr/>
          </p:nvCxnSpPr>
          <p:spPr>
            <a:xfrm flipV="1">
              <a:off x="37321350" y="10536326"/>
              <a:ext cx="544201" cy="1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91897CB5-0D78-D5E4-D9DB-C676B394CBE9}"/>
                </a:ext>
              </a:extLst>
            </p:cNvPr>
            <p:cNvCxnSpPr>
              <a:stCxn id="255" idx="6"/>
              <a:endCxn id="278" idx="2"/>
            </p:cNvCxnSpPr>
            <p:nvPr/>
          </p:nvCxnSpPr>
          <p:spPr>
            <a:xfrm>
              <a:off x="37288605" y="5380904"/>
              <a:ext cx="576945" cy="1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3" name="箭头: 右 302">
              <a:extLst>
                <a:ext uri="{FF2B5EF4-FFF2-40B4-BE49-F238E27FC236}">
                  <a16:creationId xmlns:a16="http://schemas.microsoft.com/office/drawing/2014/main" id="{DFAA9807-8B79-139D-A921-55CD00A0B31B}"/>
                </a:ext>
              </a:extLst>
            </p:cNvPr>
            <p:cNvSpPr/>
            <p:nvPr/>
          </p:nvSpPr>
          <p:spPr>
            <a:xfrm>
              <a:off x="38697218" y="5305136"/>
              <a:ext cx="432058" cy="15153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/>
            </a:p>
          </p:txBody>
        </p:sp>
        <p:sp>
          <p:nvSpPr>
            <p:cNvPr id="304" name="箭头: 右 303">
              <a:extLst>
                <a:ext uri="{FF2B5EF4-FFF2-40B4-BE49-F238E27FC236}">
                  <a16:creationId xmlns:a16="http://schemas.microsoft.com/office/drawing/2014/main" id="{611B0947-B126-10D7-9A2F-1EE71A536217}"/>
                </a:ext>
              </a:extLst>
            </p:cNvPr>
            <p:cNvSpPr/>
            <p:nvPr/>
          </p:nvSpPr>
          <p:spPr>
            <a:xfrm>
              <a:off x="38697218" y="10460558"/>
              <a:ext cx="432058" cy="15153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/>
            </a:p>
          </p:txBody>
        </p:sp>
        <p:cxnSp>
          <p:nvCxnSpPr>
            <p:cNvPr id="306" name="直接箭头连接符 305">
              <a:extLst>
                <a:ext uri="{FF2B5EF4-FFF2-40B4-BE49-F238E27FC236}">
                  <a16:creationId xmlns:a16="http://schemas.microsoft.com/office/drawing/2014/main" id="{86B0FEDC-874E-5DEC-AFA5-8F1A7C648A17}"/>
                </a:ext>
              </a:extLst>
            </p:cNvPr>
            <p:cNvCxnSpPr/>
            <p:nvPr/>
          </p:nvCxnSpPr>
          <p:spPr>
            <a:xfrm>
              <a:off x="39487501" y="5732531"/>
              <a:ext cx="20738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8" name="直接箭头连接符 307">
              <a:extLst>
                <a:ext uri="{FF2B5EF4-FFF2-40B4-BE49-F238E27FC236}">
                  <a16:creationId xmlns:a16="http://schemas.microsoft.com/office/drawing/2014/main" id="{B035EEC8-BE1A-2FCD-1D3B-28618F92C7C2}"/>
                </a:ext>
              </a:extLst>
            </p:cNvPr>
            <p:cNvCxnSpPr/>
            <p:nvPr/>
          </p:nvCxnSpPr>
          <p:spPr>
            <a:xfrm flipV="1">
              <a:off x="39487501" y="4384524"/>
              <a:ext cx="0" cy="13480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9" name="文本框 308">
              <a:extLst>
                <a:ext uri="{FF2B5EF4-FFF2-40B4-BE49-F238E27FC236}">
                  <a16:creationId xmlns:a16="http://schemas.microsoft.com/office/drawing/2014/main" id="{31BE12BE-6A4F-B902-9729-1036E85F9865}"/>
                </a:ext>
              </a:extLst>
            </p:cNvPr>
            <p:cNvSpPr txBox="1"/>
            <p:nvPr/>
          </p:nvSpPr>
          <p:spPr>
            <a:xfrm>
              <a:off x="39660324" y="6026343"/>
              <a:ext cx="1728230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40" b="1" dirty="0"/>
                <a:t>Low logits</a:t>
              </a:r>
              <a:endParaRPr lang="zh-CN" altLang="en-US" sz="1440" b="1" dirty="0"/>
            </a:p>
          </p:txBody>
        </p:sp>
        <p:cxnSp>
          <p:nvCxnSpPr>
            <p:cNvPr id="310" name="直接箭头连接符 309">
              <a:extLst>
                <a:ext uri="{FF2B5EF4-FFF2-40B4-BE49-F238E27FC236}">
                  <a16:creationId xmlns:a16="http://schemas.microsoft.com/office/drawing/2014/main" id="{123F432B-E34C-FF38-1A69-4153548DADA3}"/>
                </a:ext>
              </a:extLst>
            </p:cNvPr>
            <p:cNvCxnSpPr/>
            <p:nvPr/>
          </p:nvCxnSpPr>
          <p:spPr>
            <a:xfrm>
              <a:off x="39487501" y="10778976"/>
              <a:ext cx="20738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3EF0DF20-463F-1A6B-803C-C1AB52049911}"/>
                </a:ext>
              </a:extLst>
            </p:cNvPr>
            <p:cNvCxnSpPr/>
            <p:nvPr/>
          </p:nvCxnSpPr>
          <p:spPr>
            <a:xfrm flipV="1">
              <a:off x="39487501" y="9430969"/>
              <a:ext cx="0" cy="13480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2" name="文本框 311">
              <a:extLst>
                <a:ext uri="{FF2B5EF4-FFF2-40B4-BE49-F238E27FC236}">
                  <a16:creationId xmlns:a16="http://schemas.microsoft.com/office/drawing/2014/main" id="{74293106-311E-9844-DA9C-BC4D32ABE63A}"/>
                </a:ext>
              </a:extLst>
            </p:cNvPr>
            <p:cNvSpPr txBox="1"/>
            <p:nvPr/>
          </p:nvSpPr>
          <p:spPr>
            <a:xfrm>
              <a:off x="39919558" y="11031817"/>
              <a:ext cx="1728230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40" b="1" dirty="0"/>
                <a:t>High logits</a:t>
              </a:r>
              <a:endParaRPr lang="zh-CN" altLang="en-US" sz="1440" b="1" dirty="0"/>
            </a:p>
          </p:txBody>
        </p:sp>
        <p:sp>
          <p:nvSpPr>
            <p:cNvPr id="313" name="矩形 312">
              <a:extLst>
                <a:ext uri="{FF2B5EF4-FFF2-40B4-BE49-F238E27FC236}">
                  <a16:creationId xmlns:a16="http://schemas.microsoft.com/office/drawing/2014/main" id="{D98EC8B0-5D91-D0D6-2C64-9C4564A50D10}"/>
                </a:ext>
              </a:extLst>
            </p:cNvPr>
            <p:cNvSpPr/>
            <p:nvPr/>
          </p:nvSpPr>
          <p:spPr>
            <a:xfrm>
              <a:off x="40695764" y="4609306"/>
              <a:ext cx="172823" cy="1123225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/>
            </a:p>
          </p:txBody>
        </p:sp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BDF3C384-E1EC-9962-8C72-FD5C9E125FEC}"/>
                </a:ext>
              </a:extLst>
            </p:cNvPr>
            <p:cNvSpPr/>
            <p:nvPr/>
          </p:nvSpPr>
          <p:spPr>
            <a:xfrm>
              <a:off x="40229596" y="5041243"/>
              <a:ext cx="172823" cy="691288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/>
            </a:p>
          </p:txBody>
        </p:sp>
        <p:sp>
          <p:nvSpPr>
            <p:cNvPr id="315" name="矩形 314">
              <a:extLst>
                <a:ext uri="{FF2B5EF4-FFF2-40B4-BE49-F238E27FC236}">
                  <a16:creationId xmlns:a16="http://schemas.microsoft.com/office/drawing/2014/main" id="{A397AB20-FEFF-F4DA-2E92-868F7D170DD1}"/>
                </a:ext>
              </a:extLst>
            </p:cNvPr>
            <p:cNvSpPr/>
            <p:nvPr/>
          </p:nvSpPr>
          <p:spPr>
            <a:xfrm>
              <a:off x="39830151" y="4773042"/>
              <a:ext cx="172823" cy="99362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/>
            </a:p>
          </p:txBody>
        </p:sp>
        <p:sp>
          <p:nvSpPr>
            <p:cNvPr id="316" name="矩形 315">
              <a:extLst>
                <a:ext uri="{FF2B5EF4-FFF2-40B4-BE49-F238E27FC236}">
                  <a16:creationId xmlns:a16="http://schemas.microsoft.com/office/drawing/2014/main" id="{08282E19-54CC-A9EE-B0A5-9698BF9D4878}"/>
                </a:ext>
              </a:extLst>
            </p:cNvPr>
            <p:cNvSpPr/>
            <p:nvPr/>
          </p:nvSpPr>
          <p:spPr>
            <a:xfrm>
              <a:off x="40633839" y="9594875"/>
              <a:ext cx="172823" cy="1123225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/>
            </a:p>
          </p:txBody>
        </p:sp>
        <p:sp>
          <p:nvSpPr>
            <p:cNvPr id="317" name="矩形 316">
              <a:extLst>
                <a:ext uri="{FF2B5EF4-FFF2-40B4-BE49-F238E27FC236}">
                  <a16:creationId xmlns:a16="http://schemas.microsoft.com/office/drawing/2014/main" id="{FEB8940B-C6EE-CDEB-04E5-B37A4EB979BB}"/>
                </a:ext>
              </a:extLst>
            </p:cNvPr>
            <p:cNvSpPr/>
            <p:nvPr/>
          </p:nvSpPr>
          <p:spPr>
            <a:xfrm>
              <a:off x="40203324" y="10312954"/>
              <a:ext cx="172823" cy="47521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/>
            </a:p>
          </p:txBody>
        </p: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68AC6CC8-E2C3-4E53-171E-762F1A1FF235}"/>
                </a:ext>
              </a:extLst>
            </p:cNvPr>
            <p:cNvSpPr/>
            <p:nvPr/>
          </p:nvSpPr>
          <p:spPr>
            <a:xfrm>
              <a:off x="39801436" y="9708140"/>
              <a:ext cx="172823" cy="1080024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/>
            </a:p>
          </p:txBody>
        </p:sp>
        <p:sp>
          <p:nvSpPr>
            <p:cNvPr id="319" name="文本框 318">
              <a:extLst>
                <a:ext uri="{FF2B5EF4-FFF2-40B4-BE49-F238E27FC236}">
                  <a16:creationId xmlns:a16="http://schemas.microsoft.com/office/drawing/2014/main" id="{71840913-B811-8764-F098-516B686F3609}"/>
                </a:ext>
              </a:extLst>
            </p:cNvPr>
            <p:cNvSpPr txBox="1"/>
            <p:nvPr/>
          </p:nvSpPr>
          <p:spPr>
            <a:xfrm>
              <a:off x="35869327" y="6178434"/>
              <a:ext cx="3354704" cy="353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94" b="1" dirty="0"/>
                <a:t>Weighted aggregation</a:t>
              </a:r>
              <a:endParaRPr lang="zh-CN" altLang="en-US" sz="1694" b="1" dirty="0"/>
            </a:p>
          </p:txBody>
        </p:sp>
        <p:sp>
          <p:nvSpPr>
            <p:cNvPr id="320" name="文本框 319">
              <a:extLst>
                <a:ext uri="{FF2B5EF4-FFF2-40B4-BE49-F238E27FC236}">
                  <a16:creationId xmlns:a16="http://schemas.microsoft.com/office/drawing/2014/main" id="{E3AE6565-649F-35F2-1BDE-38EEC7C0E1FE}"/>
                </a:ext>
              </a:extLst>
            </p:cNvPr>
            <p:cNvSpPr txBox="1"/>
            <p:nvPr/>
          </p:nvSpPr>
          <p:spPr>
            <a:xfrm>
              <a:off x="35582593" y="11398291"/>
              <a:ext cx="3354704" cy="353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94" b="1" dirty="0"/>
                <a:t>Weighted aggregation</a:t>
              </a:r>
              <a:endParaRPr lang="zh-CN" altLang="en-US" sz="1694" b="1" dirty="0"/>
            </a:p>
          </p:txBody>
        </p:sp>
        <p:sp>
          <p:nvSpPr>
            <p:cNvPr id="321" name="文本框 320">
              <a:extLst>
                <a:ext uri="{FF2B5EF4-FFF2-40B4-BE49-F238E27FC236}">
                  <a16:creationId xmlns:a16="http://schemas.microsoft.com/office/drawing/2014/main" id="{F18C66E6-1FF2-0445-08FC-D65941AB95ED}"/>
                </a:ext>
              </a:extLst>
            </p:cNvPr>
            <p:cNvSpPr txBox="1"/>
            <p:nvPr/>
          </p:nvSpPr>
          <p:spPr>
            <a:xfrm>
              <a:off x="37593450" y="4389652"/>
              <a:ext cx="3354704" cy="353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94" b="1" dirty="0"/>
                <a:t>Similarity</a:t>
              </a:r>
              <a:endParaRPr lang="zh-CN" altLang="en-US" sz="1694" b="1" dirty="0"/>
            </a:p>
          </p:txBody>
        </p:sp>
        <p:sp>
          <p:nvSpPr>
            <p:cNvPr id="322" name="文本框 321">
              <a:extLst>
                <a:ext uri="{FF2B5EF4-FFF2-40B4-BE49-F238E27FC236}">
                  <a16:creationId xmlns:a16="http://schemas.microsoft.com/office/drawing/2014/main" id="{39F7DDD2-DA9E-7202-6F9D-6D6D2345C5EA}"/>
                </a:ext>
              </a:extLst>
            </p:cNvPr>
            <p:cNvSpPr txBox="1"/>
            <p:nvPr/>
          </p:nvSpPr>
          <p:spPr>
            <a:xfrm>
              <a:off x="37668956" y="11101278"/>
              <a:ext cx="3354704" cy="353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94" b="1" dirty="0"/>
                <a:t>Similarity</a:t>
              </a:r>
              <a:endParaRPr lang="zh-CN" altLang="en-US" sz="1694" b="1" dirty="0"/>
            </a:p>
          </p:txBody>
        </p:sp>
      </p:grpSp>
      <p:sp>
        <p:nvSpPr>
          <p:cNvPr id="327" name="文本框 326">
            <a:extLst>
              <a:ext uri="{FF2B5EF4-FFF2-40B4-BE49-F238E27FC236}">
                <a16:creationId xmlns:a16="http://schemas.microsoft.com/office/drawing/2014/main" id="{056DA229-0863-6F8D-14EA-F1F4F3C627B6}"/>
              </a:ext>
            </a:extLst>
          </p:cNvPr>
          <p:cNvSpPr txBox="1"/>
          <p:nvPr/>
        </p:nvSpPr>
        <p:spPr>
          <a:xfrm>
            <a:off x="36991031" y="4918717"/>
            <a:ext cx="502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/>
              <a:t>🎓</a:t>
            </a: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77AEF6DB-A10C-0955-A484-EDB6F9B286B9}"/>
              </a:ext>
            </a:extLst>
          </p:cNvPr>
          <p:cNvSpPr txBox="1"/>
          <p:nvPr/>
        </p:nvSpPr>
        <p:spPr>
          <a:xfrm>
            <a:off x="36989713" y="9936217"/>
            <a:ext cx="502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/>
              <a:t>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矩形 328">
                <a:extLst>
                  <a:ext uri="{FF2B5EF4-FFF2-40B4-BE49-F238E27FC236}">
                    <a16:creationId xmlns:a16="http://schemas.microsoft.com/office/drawing/2014/main" id="{623151B7-C29C-9B3B-EAF8-3F9F60946136}"/>
                  </a:ext>
                </a:extLst>
              </p:cNvPr>
              <p:cNvSpPr/>
              <p:nvPr/>
            </p:nvSpPr>
            <p:spPr>
              <a:xfrm>
                <a:off x="36462822" y="7261011"/>
                <a:ext cx="2304256" cy="911712"/>
              </a:xfrm>
              <a:prstGeom prst="rect">
                <a:avLst/>
              </a:prstGeom>
              <a:noFill/>
              <a:ln w="12700">
                <a:solidFill>
                  <a:schemeClr val="accent2">
                    <a:lumMod val="7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542" dirty="0"/>
                  <a:t>\</a:t>
                </a:r>
                <a:r>
                  <a:rPr lang="en-US" altLang="zh-CN" sz="1600" b="1" dirty="0">
                    <a:solidFill>
                      <a:schemeClr val="tx1"/>
                    </a:solidFill>
                  </a:rPr>
                  <a:t>Mutual Distillation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𝑲𝑳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chemeClr val="tx1"/>
                    </a:solidFill>
                  </a:rPr>
                  <a:t>)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9" name="矩形 328">
                <a:extLst>
                  <a:ext uri="{FF2B5EF4-FFF2-40B4-BE49-F238E27FC236}">
                    <a16:creationId xmlns:a16="http://schemas.microsoft.com/office/drawing/2014/main" id="{623151B7-C29C-9B3B-EAF8-3F9F609461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2822" y="7261011"/>
                <a:ext cx="2304256" cy="91171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 w="12700">
                <a:solidFill>
                  <a:schemeClr val="accent2">
                    <a:lumMod val="75000"/>
                  </a:schemeClr>
                </a:solidFill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2" name="图形 341" descr="箭头循环 纯色填充">
            <a:extLst>
              <a:ext uri="{FF2B5EF4-FFF2-40B4-BE49-F238E27FC236}">
                <a16:creationId xmlns:a16="http://schemas.microsoft.com/office/drawing/2014/main" id="{AE85A84D-E762-5136-9395-DA91D2DABED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3266923" y="5981876"/>
            <a:ext cx="3625552" cy="355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3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16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868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FBA79-A9D8-AD66-63E8-DDA2B88F0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660885-9060-EC4B-3DD2-21C4F3321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861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24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1006</TotalTime>
  <Words>179</Words>
  <Application>Microsoft Office PowerPoint</Application>
  <PresentationFormat>自定义</PresentationFormat>
  <Paragraphs>83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Xinda Yan</dc:creator>
  <cp:lastModifiedBy>Xinda Yan</cp:lastModifiedBy>
  <cp:revision>13</cp:revision>
  <dcterms:created xsi:type="dcterms:W3CDTF">2026-03-07T05:29:42Z</dcterms:created>
  <dcterms:modified xsi:type="dcterms:W3CDTF">2026-03-14T05:15:20Z</dcterms:modified>
</cp:coreProperties>
</file>